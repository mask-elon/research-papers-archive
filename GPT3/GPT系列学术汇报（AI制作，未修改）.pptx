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Poppi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Poppi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-bold.fntdata"/><Relationship Id="rId6" Type="http://schemas.openxmlformats.org/officeDocument/2006/relationships/slide" Target="slides/slide1.xml"/><Relationship Id="rId18" Type="http://schemas.openxmlformats.org/officeDocument/2006/relationships/font" Target="fonts/Poppi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.png"/><Relationship Id="rId10" Type="http://schemas.openxmlformats.org/officeDocument/2006/relationships/image" Target="../media/image9.png"/><Relationship Id="rId13" Type="http://schemas.openxmlformats.org/officeDocument/2006/relationships/image" Target="../media/image27.png"/><Relationship Id="rId1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9" Type="http://schemas.openxmlformats.org/officeDocument/2006/relationships/image" Target="../media/image3.png"/><Relationship Id="rId15" Type="http://schemas.openxmlformats.org/officeDocument/2006/relationships/image" Target="../media/image5.png"/><Relationship Id="rId14" Type="http://schemas.openxmlformats.org/officeDocument/2006/relationships/image" Target="../media/image15.png"/><Relationship Id="rId17" Type="http://schemas.openxmlformats.org/officeDocument/2006/relationships/image" Target="../media/image8.png"/><Relationship Id="rId16" Type="http://schemas.openxmlformats.org/officeDocument/2006/relationships/image" Target="../media/image6.png"/><Relationship Id="rId5" Type="http://schemas.openxmlformats.org/officeDocument/2006/relationships/image" Target="../media/image14.png"/><Relationship Id="rId19" Type="http://schemas.openxmlformats.org/officeDocument/2006/relationships/image" Target="../media/image23.png"/><Relationship Id="rId6" Type="http://schemas.openxmlformats.org/officeDocument/2006/relationships/image" Target="../media/image10.png"/><Relationship Id="rId18" Type="http://schemas.openxmlformats.org/officeDocument/2006/relationships/image" Target="../media/image21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0.png"/><Relationship Id="rId5" Type="http://schemas.openxmlformats.org/officeDocument/2006/relationships/image" Target="../media/image16.png"/><Relationship Id="rId6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9" Type="http://schemas.openxmlformats.org/officeDocument/2006/relationships/image" Target="../media/image31.png"/><Relationship Id="rId5" Type="http://schemas.openxmlformats.org/officeDocument/2006/relationships/image" Target="../media/image17.png"/><Relationship Id="rId6" Type="http://schemas.openxmlformats.org/officeDocument/2006/relationships/image" Target="../media/image24.png"/><Relationship Id="rId7" Type="http://schemas.openxmlformats.org/officeDocument/2006/relationships/image" Target="../media/image20.png"/><Relationship Id="rId8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9.png"/><Relationship Id="rId5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490674" y="2277367"/>
            <a:ext cx="5210651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A4B8C"/>
                </a:solidFill>
                <a:latin typeface="Arial"/>
                <a:ea typeface="Arial"/>
                <a:cs typeface="Arial"/>
                <a:sym typeface="Arial"/>
              </a:rPr>
              <a:t>GPT系列学术汇报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614737" y="3372742"/>
            <a:ext cx="496252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从GPT-1到GPT-4的演进与核心机制解析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614737" y="4180433"/>
            <a:ext cx="49625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生成式预训练语言模型的进阶之路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3600688" y="1129903"/>
            <a:ext cx="4990623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A4B8C"/>
                </a:solidFill>
                <a:latin typeface="Arial"/>
                <a:ea typeface="Arial"/>
                <a:cs typeface="Arial"/>
                <a:sym typeface="Arial"/>
              </a:rPr>
              <a:t>目录大纲 / Agenda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5715000" y="2415778"/>
            <a:ext cx="762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4105275" y="3025378"/>
            <a:ext cx="3981450" cy="2559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01. GPT-1: 生成式预训练基础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02. GPT-2: 零样本与多任务学习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03. GPT-3: 参数爆炸与涌现能力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04. InstructGPT &amp; GPT-4: 对齐与多模态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98699"/>
            <a:ext cx="5381625" cy="35693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498699"/>
            <a:ext cx="5381625" cy="23806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4069853"/>
            <a:ext cx="5381625" cy="211812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571500" y="479524"/>
            <a:ext cx="364045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A4B8C"/>
                </a:solidFill>
                <a:latin typeface="Arial"/>
                <a:ea typeface="Arial"/>
                <a:cs typeface="Arial"/>
                <a:sym typeface="Arial"/>
              </a:rPr>
              <a:t>GPT-1 核心机制解析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7067550" y="793849"/>
            <a:ext cx="45529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Generative Pre-Training &amp; Supervised Fine-Tuning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09625" y="1689199"/>
            <a:ext cx="4953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无监督预训练 (Pre-training)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09625" y="2089249"/>
            <a:ext cx="4953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给定无监督的预训练语料，目标为最大化以下似然函数：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09625" y="2757636"/>
            <a:ext cx="4953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k为上下文窗口大小，P为条件概率且由参数为Θ的神经网络构建。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477000" y="1689199"/>
            <a:ext cx="4953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监督微调 (Fine-Tuning)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477000" y="2089249"/>
            <a:ext cx="4953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对于有标注数据集C，输入序列经过预训练模型得到 Transformer 输出 ，再经过线性层与 Softmax 预测概率：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477000" y="2982366"/>
            <a:ext cx="4953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微调阶段目标为最大化以下似然函数：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477000" y="4260353"/>
            <a:ext cx="4953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混合目标函数 (Mixed Objective)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477000" y="4660403"/>
            <a:ext cx="4953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引入语言模型辅助目标可以有效提升泛化性能并加速收敛：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477000" y="5428059"/>
            <a:ext cx="49530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学术结论：</a:t>
            </a:r>
            <a:r>
              <a:rPr b="0" i="0" lang="en-US" sz="10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大语言模型预训练阶段只消耗无标签数据，微调任务与语言模型任务共享预训练参数，在同一框架下联合优化。</a:t>
            </a:r>
            <a:endParaRPr/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1693961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9625" y="2504479"/>
            <a:ext cx="3807172" cy="25315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809625" y="3239541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4B8C"/>
                </a:solidFill>
                <a:latin typeface="Arial"/>
                <a:ea typeface="Arial"/>
                <a:cs typeface="Arial"/>
                <a:sym typeface="Arial"/>
              </a:rPr>
              <a:t>Transformer 模型架构 (特征提取)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09625" y="4490888"/>
            <a:ext cx="4953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为词向量矩阵， 为位置编码矩阵。</a:t>
            </a:r>
            <a:endParaRPr/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77000" y="1693961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134725" y="2143273"/>
            <a:ext cx="189011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77000" y="2727573"/>
            <a:ext cx="3377058" cy="2547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477000" y="3376910"/>
            <a:ext cx="3591966" cy="3119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477000" y="4265116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477000" y="5094684"/>
            <a:ext cx="2744241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00125" y="3713857"/>
            <a:ext cx="1328588" cy="2055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000125" y="3967013"/>
            <a:ext cx="3900487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000125" y="4163020"/>
            <a:ext cx="2206525" cy="2326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09625" y="4500413"/>
            <a:ext cx="4000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2200275" y="4500413"/>
            <a:ext cx="40957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133451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571500" y="1685925"/>
            <a:ext cx="56007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Language Models are Unsupervised Multitask Learners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571500" y="2628900"/>
            <a:ext cx="5334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GPT-2的学术突破在于证明了语言模型在足够庞大的数据集（WebText）上训练后，可以隐式地学习到执行多种自然语言处理任务的能力。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57250" y="3594645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Task Conditioning: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模型不仅基于输入生成输出，还基于"任务提示"（Prompt）进行条件生成。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57250" y="4314676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Zero-Shot 范式: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摒弃了GPT-1中必须的特定任务微调（Fine-tuning）步骤，模型在从未见过的任务上直接输出结果。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57250" y="5034706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架构微调: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将层归一化（Layer Normalization）移动到每个子块的输入位置，并增加了一个额外的归一化层。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57250" y="5754737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参数规模: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扩展至 1.5 Billion 参数，奠定了"大力出奇迹"的基调。</a:t>
            </a:r>
            <a:endParaRPr/>
          </a:p>
        </p:txBody>
      </p:sp>
      <p:pic>
        <p:nvPicPr>
          <p:cNvPr descr="image.png" id="142" name="Google Shape;14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133451"/>
            <a:ext cx="29432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571500" y="3613695"/>
            <a:ext cx="133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►</a:t>
            </a:r>
            <a:endParaRPr/>
          </a:p>
        </p:txBody>
      </p:sp>
      <p:pic>
        <p:nvPicPr>
          <p:cNvPr descr="image.png" id="144" name="Google Shape;14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38500" y="3897510"/>
            <a:ext cx="14859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571500" y="4333726"/>
            <a:ext cx="133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►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571500" y="5053756"/>
            <a:ext cx="133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►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571500" y="5773787"/>
            <a:ext cx="133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►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A4B8C"/>
                </a:solidFill>
                <a:latin typeface="Arial"/>
                <a:ea typeface="Arial"/>
                <a:cs typeface="Arial"/>
                <a:sym typeface="Arial"/>
              </a:rPr>
              <a:t>GPT-2: 多任务与零样本学习 (Zero-shot)</a:t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642270"/>
            <a:ext cx="5334000" cy="1481881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571500" y="2609701"/>
            <a:ext cx="53340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1A4B8C"/>
                </a:solidFill>
                <a:latin typeface="Poppins"/>
                <a:ea typeface="Poppins"/>
                <a:cs typeface="Poppins"/>
                <a:sym typeface="Poppins"/>
              </a:rPr>
              <a:t>175B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571500" y="4086076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模型参数量级 (Parameters)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286500" y="1685925"/>
            <a:ext cx="56007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A4B8C"/>
                </a:solidFill>
                <a:latin typeface="Arial"/>
                <a:ea typeface="Arial"/>
                <a:cs typeface="Arial"/>
                <a:sym typeface="Arial"/>
              </a:rPr>
              <a:t>Language Models are Few-Shot Learners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6286500" y="2628900"/>
            <a:ext cx="5334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GPT-3 是人工智能发展史上的里程碑，其恐怖的参数量带来了极强的上下文学习（In-Context Learning）能力，即</a:t>
            </a:r>
            <a:r>
              <a:rPr b="1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涌现能力（Emergent Abilities）</a:t>
            </a:r>
            <a:r>
              <a:rPr b="0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515100" y="3832770"/>
            <a:ext cx="49149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核心范式转变：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515100" y="4202310"/>
            <a:ext cx="49149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不再更新模型权重！仅通过在提示词（Prompt）中提供少量任务示例（Demonstrations），模型即可快速适应新任务。这标志着 NLP 从 "Pre-train + Fine-tune" 正式迈入 "Pre-train + Prompt" 时代。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A4B8C"/>
                </a:solidFill>
                <a:latin typeface="Arial"/>
                <a:ea typeface="Arial"/>
                <a:cs typeface="Arial"/>
                <a:sym typeface="Arial"/>
              </a:rPr>
              <a:t>GPT-3: 规模爆炸与少样本学习 (Few-shot)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29954"/>
            <a:ext cx="3492549" cy="35983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729954"/>
            <a:ext cx="3492549" cy="35983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729954"/>
            <a:ext cx="3492549" cy="3598366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1809750" y="1644104"/>
            <a:ext cx="857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为了解决 GPT-3 "不听指令"和"产生有害内容"的问题（Alignment Problem），OpenAI 提出了 RLHF 机制，分为三个关键步骤：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866775" y="3701504"/>
            <a:ext cx="190023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1. SFT 监督微调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866775" y="4244429"/>
            <a:ext cx="2901999" cy="1645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收集人工编写的高质量提示词（Prompt）和对应的理想回答。利用这些数据对预训练模型进行传统的监督学习微调（Supervised Fine-Tuning），使模型初步学会"遵循指令"。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4645074" y="3701504"/>
            <a:ext cx="192024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2. RM 奖励模型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4645074" y="4244429"/>
            <a:ext cx="2901999" cy="1645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让 SFT 模型对同一个 Prompt 生成多个不同的回答，人类标注员根据相关性、安全性和有益性对这些回答进行排序。使用这些排序数据训练一个奖励模型（Reward Model），用于自动打分。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8423374" y="3701504"/>
            <a:ext cx="206025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3. PPO 强化学习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8423374" y="4244429"/>
            <a:ext cx="2901999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使用近端策略优化（Proximal Policy Optimization）算法，将 RM 的打分作为奖励信号，对 SFT 模型进行强化学习迭代，进一步优化模型的输出策略，完成最终对齐。</a:t>
            </a:r>
            <a:endParaRPr/>
          </a:p>
        </p:txBody>
      </p:sp>
      <p:pic>
        <p:nvPicPr>
          <p:cNvPr descr="image.png" id="179" name="Google Shape;179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3091904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3091904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3091904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571500" y="529679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A4B8C"/>
                </a:solidFill>
                <a:latin typeface="Arial"/>
                <a:ea typeface="Arial"/>
                <a:cs typeface="Arial"/>
                <a:sym typeface="Arial"/>
              </a:rPr>
              <a:t>InstructGPT: 引入人类反馈强化学习 (RLHF)</a:t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571500" y="1244054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571500" y="571500"/>
            <a:ext cx="5550693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A4B8C"/>
                </a:solidFill>
                <a:latin typeface="Arial"/>
                <a:ea typeface="Arial"/>
                <a:cs typeface="Arial"/>
                <a:sym typeface="Arial"/>
              </a:rPr>
              <a:t>GPT-4: 多模态与复杂推理</a:t>
            </a:r>
            <a:endParaRPr/>
          </a:p>
        </p:txBody>
      </p:sp>
      <p:pic>
        <p:nvPicPr>
          <p:cNvPr descr="image.png" id="190" name="Google Shape;19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/>
        </p:nvSpPr>
        <p:spPr>
          <a:xfrm>
            <a:off x="571500" y="2036564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A Large Multimodal Model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571500" y="2579489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GPT-4 不仅是一个庞大的语言模型，更是迈向通用人工智能（AGI）的重要一步。它打破了文本的界限，原生支持图像与文本的混合输入。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800100" y="3556694"/>
            <a:ext cx="48672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深度多模态理解: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能够精准解析复杂的图表、学术论文截图及手写草图，并在视觉与语义间建立深度映射。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800100" y="4248150"/>
            <a:ext cx="48672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高阶逻辑推理: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在各类专业和学术基准测试（如统一律师考试、LSAT、SAT等）中展现出人类水平甚至超越常人的成绩。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800100" y="4939605"/>
            <a:ext cx="48672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更强的可控性 (Steerability):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开发者可以更精细地定制系统消息，彻底改变了AI角色的设定与行为边界。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85925"/>
            <a:ext cx="11049000" cy="460057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1490662" y="5063430"/>
            <a:ext cx="92106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参数规模的指数级增长是 GPT 系列模型能力跃升的核心驱动力，验证了深度学习领域著名的 "Scaling Laws"（缩放定律）。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A4B8C"/>
                </a:solidFill>
                <a:latin typeface="Arial"/>
                <a:ea typeface="Arial"/>
                <a:cs typeface="Arial"/>
                <a:sym typeface="Arial"/>
              </a:rPr>
              <a:t>GPT系列模型参数量演进 (示意图)</a:t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/>
          <p:nvPr/>
        </p:nvSpPr>
        <p:spPr>
          <a:xfrm>
            <a:off x="571500" y="2428875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510733" y="2733675"/>
            <a:ext cx="25521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4B8C"/>
                </a:solidFill>
                <a:latin typeface="Arial"/>
                <a:ea typeface="Arial"/>
                <a:cs typeface="Arial"/>
                <a:sym typeface="Arial"/>
              </a:rPr>
              <a:t>2018.06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571500" y="3114675"/>
            <a:ext cx="243066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GPT-1 发布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571500" y="3501330"/>
            <a:ext cx="243066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确立了无监督预训练+监督微调的范式，证明了语言模型在自然语言理解中的潜力。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3383413" y="764083"/>
            <a:ext cx="25521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4B8C"/>
                </a:solidFill>
                <a:latin typeface="Arial"/>
                <a:ea typeface="Arial"/>
                <a:cs typeface="Arial"/>
                <a:sym typeface="Arial"/>
              </a:rPr>
              <a:t>2019.02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3444180" y="1145083"/>
            <a:ext cx="243066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GPT-2 发布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3444180" y="1531739"/>
            <a:ext cx="243066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舍弃微调机制，提出零样本与多任务学习理念，参数扩展至15亿。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6256094" y="2733675"/>
            <a:ext cx="25521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4B8C"/>
                </a:solidFill>
                <a:latin typeface="Arial"/>
                <a:ea typeface="Arial"/>
                <a:cs typeface="Arial"/>
                <a:sym typeface="Arial"/>
              </a:rPr>
              <a:t>2020.05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6316860" y="3114675"/>
            <a:ext cx="243066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GPT-3 发布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6316860" y="3501330"/>
            <a:ext cx="243066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1750亿参数震撼业界，In-Context Learning 成为新主流范式。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9128774" y="520303"/>
            <a:ext cx="25521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A4B8C"/>
                </a:solidFill>
                <a:latin typeface="Arial"/>
                <a:ea typeface="Arial"/>
                <a:cs typeface="Arial"/>
                <a:sym typeface="Arial"/>
              </a:rPr>
              <a:t>2023.03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9189541" y="901303"/>
            <a:ext cx="243066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GPT-4 震撼发布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9189541" y="1287958"/>
            <a:ext cx="243066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实现多模态输入，逻辑推理能力大幅飙升，成为目前全球最强大的基础模型之一。</a:t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1672530" y="23336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4545210" y="23336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7417891" y="23336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10290571" y="23336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A4B8C"/>
                </a:solidFill>
                <a:latin typeface="Arial"/>
                <a:ea typeface="Arial"/>
                <a:cs typeface="Arial"/>
                <a:sym typeface="Arial"/>
              </a:rPr>
              <a:t>OpenAI GPT 系列发展时间线</a:t>
            </a:r>
            <a:endParaRPr/>
          </a:p>
        </p:txBody>
      </p:sp>
      <p:sp>
        <p:nvSpPr>
          <p:cNvPr id="228" name="Google Shape;228;p21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2"/>
          <p:cNvSpPr txBox="1"/>
          <p:nvPr/>
        </p:nvSpPr>
        <p:spPr>
          <a:xfrm>
            <a:off x="1876425" y="2066925"/>
            <a:ext cx="843915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The biggest lesson that can be read from 70 years of AI research is that general methods that leverage computation are ultimately the most effective, and by a large margin.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4352925" y="4638675"/>
            <a:ext cx="3486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— Richard Sutton (The Bitter Lesson)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1400175" y="5276850"/>
            <a:ext cx="93916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GPT 系列的成功，正是建立在坚定不移地扩展计算资源、模型规模与数据量的信念之上。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1209675" y="2447925"/>
            <a:ext cx="542032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10440295" y="4543425"/>
            <a:ext cx="542032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A4B8C"/>
                </a:solidFill>
                <a:latin typeface="Arial"/>
                <a:ea typeface="Arial"/>
                <a:cs typeface="Arial"/>
                <a:sym typeface="Arial"/>
              </a:rPr>
              <a:t>The Scaling Hypothesis</a:t>
            </a:r>
            <a:endParaRPr/>
          </a:p>
        </p:txBody>
      </p:sp>
      <p:sp>
        <p:nvSpPr>
          <p:cNvPr id="240" name="Google Shape;240;p22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5" name="Google Shape;24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295275" y="2104132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A4B8C"/>
                </a:solidFill>
                <a:latin typeface="Arial"/>
                <a:ea typeface="Arial"/>
                <a:cs typeface="Arial"/>
                <a:sym typeface="Arial"/>
              </a:rPr>
              <a:t>Q&amp;A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571500" y="3628132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感谢您的聆听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571500" y="430619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欢迎批评与指正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4"/>
          <p:cNvSpPr/>
          <p:nvPr/>
        </p:nvSpPr>
        <p:spPr>
          <a:xfrm>
            <a:off x="571500" y="1685925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571500" y="265926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571500" y="265926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7" name="Google Shape;25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34467"/>
            <a:ext cx="1409700" cy="54858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4"/>
          <p:cNvSpPr txBox="1"/>
          <p:nvPr/>
        </p:nvSpPr>
        <p:spPr>
          <a:xfrm>
            <a:off x="1666875" y="1828800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https://static.vecteezy.com/system/resources/thumbnails/077/819/986/large/3d-render-abstract-blue-neural-network-digital-data-connection-background-high-tech-glowing-nodes-lines-representing-artificial-intelligence-machine-learning-ideal-futuristic-backdrop-video.jpg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1666875" y="227260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www.vecteezy.com</a:t>
            </a:r>
            <a:endParaRPr/>
          </a:p>
        </p:txBody>
      </p:sp>
      <p:pic>
        <p:nvPicPr>
          <p:cNvPr descr="image.png" id="260" name="Google Shape;26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1820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4"/>
          <p:cNvSpPr txBox="1"/>
          <p:nvPr/>
        </p:nvSpPr>
        <p:spPr>
          <a:xfrm>
            <a:off x="1666875" y="281166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https://img.freepik.com/premium-photo/abstract-ai-concept-with-glowing-brain-connected-digital-networks-data-streams_35691-67542.jpg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1666875" y="305737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www.freepik.com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A4B8C"/>
                </a:solidFill>
                <a:latin typeface="Arial"/>
                <a:ea typeface="Arial"/>
                <a:cs typeface="Arial"/>
                <a:sym typeface="Arial"/>
              </a:rPr>
              <a:t>Image Sources</a:t>
            </a:r>
            <a:endParaRPr/>
          </a:p>
        </p:txBody>
      </p:sp>
      <p:sp>
        <p:nvSpPr>
          <p:cNvPr id="264" name="Google Shape;264;p24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