
<file path=[Content_Types].xml><?xml version="1.0" encoding="utf-8"?>
<Types xmlns="http://schemas.openxmlformats.org/package/2006/content-types">
  <Default Extension="bin" ContentType="application/vnd.openxmlformats-officedocument.oleObject"/>
  <Default Extension="fntdata" ContentType="application/x-fontdata"/>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
  </p:notesMasterIdLst>
  <p:sldIdLst>
    <p:sldId id="257" r:id="rId2"/>
    <p:sldId id="256" r:id="rId3"/>
    <p:sldId id="262" r:id="rId4"/>
    <p:sldId id="259" r:id="rId5"/>
    <p:sldId id="260" r:id="rId6"/>
    <p:sldId id="258" r:id="rId7"/>
  </p:sldIdLst>
  <p:sldSz cx="12192000" cy="6858000"/>
  <p:notesSz cx="6858000" cy="9144000"/>
  <p:embeddedFontLst>
    <p:embeddedFont>
      <p:font typeface="Cambria Math" panose="02040503050406030204" pitchFamily="18" charset="0"/>
      <p:regular r:id="rId9"/>
    </p:embeddedFont>
    <p:embeddedFont>
      <p:font typeface="Lato" panose="020F0502020204030203" pitchFamily="34" charset="0"/>
      <p:regular r:id="rId10"/>
      <p:bold r:id="rId11"/>
      <p:italic r:id="rId12"/>
      <p:boldItalic r:id="rId13"/>
    </p:embeddedFont>
    <p:embeddedFont>
      <p:font typeface="Poppins" panose="020B0502040204020203" pitchFamily="2" charset="0"/>
      <p:regular r:id="rId14"/>
      <p:bold r:id="rId15"/>
      <p:italic r:id="rId16"/>
      <p:boldItalic r:id="rId17"/>
    </p:embeddedFont>
    <p:embeddedFont>
      <p:font typeface="Poppins SemiBold" panose="020B0502040204020203" pitchFamily="2" charset="0"/>
      <p:regular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092"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73" autoAdjust="0"/>
  </p:normalViewPr>
  <p:slideViewPr>
    <p:cSldViewPr snapToGrid="0" showGuides="1">
      <p:cViewPr>
        <p:scale>
          <a:sx n="100" d="100"/>
          <a:sy n="100" d="100"/>
        </p:scale>
        <p:origin x="420" y="48"/>
      </p:cViewPr>
      <p:guideLst>
        <p:guide orient="horz" pos="2092"/>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7.fntdata"/><Relationship Id="rId23" Type="http://schemas.openxmlformats.org/officeDocument/2006/relationships/theme" Target="theme/theme1.xml"/><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4594507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3" Type="http://schemas.openxmlformats.org/officeDocument/2006/relationships/image" Target="../media/image15.png"/><Relationship Id="rId18" Type="http://schemas.openxmlformats.org/officeDocument/2006/relationships/image" Target="../media/image20.png"/><Relationship Id="rId26" Type="http://schemas.openxmlformats.org/officeDocument/2006/relationships/image" Target="../media/image28.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33" Type="http://schemas.openxmlformats.org/officeDocument/2006/relationships/image" Target="../media/image35.png"/><Relationship Id="rId2" Type="http://schemas.openxmlformats.org/officeDocument/2006/relationships/notesSlide" Target="../notesSlides/notesSlide1.xml"/><Relationship Id="rId16" Type="http://schemas.openxmlformats.org/officeDocument/2006/relationships/image" Target="../media/image18.png"/><Relationship Id="rId20" Type="http://schemas.openxmlformats.org/officeDocument/2006/relationships/image" Target="../media/image22.png"/><Relationship Id="rId29" Type="http://schemas.openxmlformats.org/officeDocument/2006/relationships/image" Target="../media/image31.pn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32" Type="http://schemas.openxmlformats.org/officeDocument/2006/relationships/image" Target="../media/image34.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28" Type="http://schemas.openxmlformats.org/officeDocument/2006/relationships/image" Target="../media/image30.png"/><Relationship Id="rId10" Type="http://schemas.openxmlformats.org/officeDocument/2006/relationships/image" Target="../media/image12.png"/><Relationship Id="rId19" Type="http://schemas.openxmlformats.org/officeDocument/2006/relationships/image" Target="../media/image21.png"/><Relationship Id="rId31" Type="http://schemas.openxmlformats.org/officeDocument/2006/relationships/image" Target="../media/image33.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 Id="rId27" Type="http://schemas.openxmlformats.org/officeDocument/2006/relationships/image" Target="../media/image29.png"/><Relationship Id="rId30" Type="http://schemas.openxmlformats.org/officeDocument/2006/relationships/image" Target="../media/image32.png"/><Relationship Id="rId8"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png"/><Relationship Id="rId7" Type="http://schemas.openxmlformats.org/officeDocument/2006/relationships/image" Target="../media/image3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4.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Google Shape;169;p18">
            <a:extLst>
              <a:ext uri="{FF2B5EF4-FFF2-40B4-BE49-F238E27FC236}">
                <a16:creationId xmlns:a16="http://schemas.microsoft.com/office/drawing/2014/main" id="{9445DA2F-16DA-CDDA-7010-8142B0E8AE68}"/>
              </a:ext>
            </a:extLst>
          </p:cNvPr>
          <p:cNvPicPr preferRelativeResize="0"/>
          <p:nvPr/>
        </p:nvPicPr>
        <p:blipFill rotWithShape="1">
          <a:blip r:embed="rId2">
            <a:alphaModFix/>
          </a:blip>
          <a:srcRect/>
          <a:stretch/>
        </p:blipFill>
        <p:spPr>
          <a:xfrm>
            <a:off x="739775" y="2209801"/>
            <a:ext cx="9026526" cy="1085850"/>
          </a:xfrm>
          <a:prstGeom prst="rect">
            <a:avLst/>
          </a:prstGeom>
          <a:noFill/>
          <a:ln>
            <a:noFill/>
          </a:ln>
        </p:spPr>
      </p:pic>
      <p:pic>
        <p:nvPicPr>
          <p:cNvPr id="21" name="Google Shape;169;p18">
            <a:extLst>
              <a:ext uri="{FF2B5EF4-FFF2-40B4-BE49-F238E27FC236}">
                <a16:creationId xmlns:a16="http://schemas.microsoft.com/office/drawing/2014/main" id="{2C9E2B59-470E-1888-9BF8-C89E4E456819}"/>
              </a:ext>
            </a:extLst>
          </p:cNvPr>
          <p:cNvPicPr preferRelativeResize="0"/>
          <p:nvPr/>
        </p:nvPicPr>
        <p:blipFill rotWithShape="1">
          <a:blip r:embed="rId2">
            <a:alphaModFix/>
          </a:blip>
          <a:srcRect/>
          <a:stretch/>
        </p:blipFill>
        <p:spPr>
          <a:xfrm>
            <a:off x="739774" y="2209801"/>
            <a:ext cx="8620125" cy="1085850"/>
          </a:xfrm>
          <a:prstGeom prst="rect">
            <a:avLst/>
          </a:prstGeom>
          <a:noFill/>
          <a:ln>
            <a:noFill/>
          </a:ln>
        </p:spPr>
      </p:pic>
      <p:pic>
        <p:nvPicPr>
          <p:cNvPr id="8" name="Google Shape;169;p18">
            <a:extLst>
              <a:ext uri="{FF2B5EF4-FFF2-40B4-BE49-F238E27FC236}">
                <a16:creationId xmlns:a16="http://schemas.microsoft.com/office/drawing/2014/main" id="{8AF26190-3164-6B34-4A46-15AD4C14117C}"/>
              </a:ext>
            </a:extLst>
          </p:cNvPr>
          <p:cNvPicPr preferRelativeResize="0"/>
          <p:nvPr/>
        </p:nvPicPr>
        <p:blipFill rotWithShape="1">
          <a:blip r:embed="rId2">
            <a:alphaModFix/>
          </a:blip>
          <a:srcRect/>
          <a:stretch/>
        </p:blipFill>
        <p:spPr>
          <a:xfrm>
            <a:off x="8331202" y="3835397"/>
            <a:ext cx="3258185" cy="2681835"/>
          </a:xfrm>
          <a:prstGeom prst="rect">
            <a:avLst/>
          </a:prstGeom>
          <a:noFill/>
          <a:ln>
            <a:noFill/>
          </a:ln>
        </p:spPr>
      </p:pic>
      <p:pic>
        <p:nvPicPr>
          <p:cNvPr id="7" name="Google Shape;169;p18">
            <a:extLst>
              <a:ext uri="{FF2B5EF4-FFF2-40B4-BE49-F238E27FC236}">
                <a16:creationId xmlns:a16="http://schemas.microsoft.com/office/drawing/2014/main" id="{C472DFAF-8B2A-868A-50F4-C5EA9283DB36}"/>
              </a:ext>
            </a:extLst>
          </p:cNvPr>
          <p:cNvPicPr preferRelativeResize="0"/>
          <p:nvPr/>
        </p:nvPicPr>
        <p:blipFill rotWithShape="1">
          <a:blip r:embed="rId2">
            <a:alphaModFix/>
          </a:blip>
          <a:srcRect/>
          <a:stretch/>
        </p:blipFill>
        <p:spPr>
          <a:xfrm>
            <a:off x="4466907" y="3835399"/>
            <a:ext cx="3258185" cy="2681834"/>
          </a:xfrm>
          <a:prstGeom prst="rect">
            <a:avLst/>
          </a:prstGeom>
          <a:noFill/>
          <a:ln>
            <a:noFill/>
          </a:ln>
        </p:spPr>
      </p:pic>
      <p:pic>
        <p:nvPicPr>
          <p:cNvPr id="4" name="Google Shape;169;p18">
            <a:extLst>
              <a:ext uri="{FF2B5EF4-FFF2-40B4-BE49-F238E27FC236}">
                <a16:creationId xmlns:a16="http://schemas.microsoft.com/office/drawing/2014/main" id="{567E9974-A584-9650-DBC6-446CAA3576E9}"/>
              </a:ext>
            </a:extLst>
          </p:cNvPr>
          <p:cNvPicPr preferRelativeResize="0"/>
          <p:nvPr/>
        </p:nvPicPr>
        <p:blipFill rotWithShape="1">
          <a:blip r:embed="rId2">
            <a:alphaModFix/>
          </a:blip>
          <a:srcRect/>
          <a:stretch/>
        </p:blipFill>
        <p:spPr>
          <a:xfrm>
            <a:off x="729615" y="3835399"/>
            <a:ext cx="3258185" cy="2681833"/>
          </a:xfrm>
          <a:prstGeom prst="rect">
            <a:avLst/>
          </a:prstGeom>
          <a:noFill/>
          <a:ln>
            <a:noFill/>
          </a:ln>
        </p:spPr>
      </p:pic>
      <p:sp>
        <p:nvSpPr>
          <p:cNvPr id="2" name="文本框 1"/>
          <p:cNvSpPr txBox="1"/>
          <p:nvPr/>
        </p:nvSpPr>
        <p:spPr>
          <a:xfrm>
            <a:off x="638810" y="499110"/>
            <a:ext cx="4356735" cy="477054"/>
          </a:xfrm>
          <a:prstGeom prst="rect">
            <a:avLst/>
          </a:prstGeom>
          <a:noFill/>
        </p:spPr>
        <p:txBody>
          <a:bodyPr wrap="square" rtlCol="0">
            <a:spAutoFit/>
          </a:bodyPr>
          <a:lstStyle/>
          <a:p>
            <a:r>
              <a:rPr lang="zh-CN" altLang="en-US" sz="2500" dirty="0">
                <a:solidFill>
                  <a:schemeClr val="bg2">
                    <a:lumMod val="60000"/>
                    <a:lumOff val="40000"/>
                  </a:schemeClr>
                </a:solidFill>
              </a:rPr>
              <a:t>一</a:t>
            </a:r>
            <a:r>
              <a:rPr lang="en-US" altLang="zh-CN" sz="2500" dirty="0">
                <a:solidFill>
                  <a:schemeClr val="bg2">
                    <a:lumMod val="60000"/>
                    <a:lumOff val="40000"/>
                  </a:schemeClr>
                </a:solidFill>
              </a:rPr>
              <a:t>.</a:t>
            </a:r>
            <a:r>
              <a:rPr lang="zh-CN" altLang="en-US" sz="2500" dirty="0">
                <a:solidFill>
                  <a:schemeClr val="bg2">
                    <a:lumMod val="60000"/>
                    <a:lumOff val="40000"/>
                  </a:schemeClr>
                </a:solidFill>
              </a:rPr>
              <a:t>当时背景与先前困境</a:t>
            </a:r>
          </a:p>
        </p:txBody>
      </p:sp>
      <p:sp>
        <p:nvSpPr>
          <p:cNvPr id="3" name="文本框 2"/>
          <p:cNvSpPr txBox="1"/>
          <p:nvPr/>
        </p:nvSpPr>
        <p:spPr>
          <a:xfrm>
            <a:off x="707070" y="970280"/>
            <a:ext cx="10149205" cy="5116830"/>
          </a:xfrm>
          <a:prstGeom prst="rect">
            <a:avLst/>
          </a:prstGeom>
          <a:noFill/>
        </p:spPr>
        <p:txBody>
          <a:bodyPr wrap="square" rtlCol="0">
            <a:noAutofit/>
          </a:bodyPr>
          <a:lstStyle/>
          <a:p>
            <a:r>
              <a:rPr lang="zh-CN" altLang="en-US" sz="2000" dirty="0">
                <a:solidFill>
                  <a:schemeClr val="bg2">
                    <a:lumMod val="60000"/>
                    <a:lumOff val="40000"/>
                  </a:schemeClr>
                </a:solidFill>
              </a:rPr>
              <a:t>当时背景：</a:t>
            </a:r>
          </a:p>
          <a:p>
            <a:r>
              <a:rPr lang="zh-CN" altLang="en-US" dirty="0"/>
              <a:t>（</a:t>
            </a:r>
            <a:r>
              <a:rPr lang="en-US" altLang="zh-CN" dirty="0"/>
              <a:t>1</a:t>
            </a:r>
            <a:r>
              <a:rPr lang="zh-CN" altLang="en-US" dirty="0"/>
              <a:t>）当时痛点（标签数据稀缺）：</a:t>
            </a:r>
          </a:p>
          <a:p>
            <a:r>
              <a:rPr lang="zh-CN" altLang="en-US" dirty="0"/>
              <a:t>深度学习高度依赖大量人工标注数据，成本高、耗时长，正因为许多垂直领域缺乏标注资源，限制了 NLP 模型的应用</a:t>
            </a:r>
          </a:p>
          <a:p>
            <a:r>
              <a:rPr lang="zh-CN" altLang="en-US" dirty="0"/>
              <a:t>（</a:t>
            </a:r>
            <a:r>
              <a:rPr lang="en-US" altLang="zh-CN" dirty="0"/>
              <a:t>2</a:t>
            </a:r>
            <a:r>
              <a:rPr lang="zh-CN" altLang="en-US" dirty="0"/>
              <a:t>）现有方案的局限性（从无监督文本中提取深层特征很困难）：</a:t>
            </a:r>
          </a:p>
          <a:p>
            <a:r>
              <a:rPr lang="zh-CN" altLang="en-US" dirty="0"/>
              <a:t>  预训练词嵌入（Word Embeddings）已证明有效，但仅停留在词级别</a:t>
            </a:r>
            <a:endParaRPr lang="en-US" altLang="zh-CN" dirty="0"/>
          </a:p>
          <a:p>
            <a:endParaRPr lang="en-US" altLang="zh-CN" dirty="0"/>
          </a:p>
          <a:p>
            <a:r>
              <a:rPr lang="zh-CN" altLang="en-US" dirty="0"/>
              <a:t>           挑战一：目标不明确。 难以确定哪种优化目标（如语言模型、机器翻译等）最适合学习可迁移的文本表示</a:t>
            </a:r>
            <a:endParaRPr lang="en-US" altLang="zh-CN" dirty="0"/>
          </a:p>
          <a:p>
            <a:endParaRPr lang="en-US" altLang="zh-CN" dirty="0"/>
          </a:p>
          <a:p>
            <a:r>
              <a:rPr lang="zh-CN" altLang="en-US" dirty="0"/>
              <a:t>           挑战二：迁移成本高。 现有的迁移方法往往需要对目标任务进行复杂的模型架构修改或增加辅助学习目标</a:t>
            </a:r>
          </a:p>
          <a:p>
            <a:endParaRPr lang="en-US" altLang="zh-CN" dirty="0"/>
          </a:p>
          <a:p>
            <a:endParaRPr lang="en-US" altLang="zh-CN" dirty="0"/>
          </a:p>
          <a:p>
            <a:r>
              <a:rPr lang="en-US" altLang="zh-CN" sz="2200" dirty="0">
                <a:solidFill>
                  <a:schemeClr val="bg2">
                    <a:lumMod val="60000"/>
                    <a:lumOff val="40000"/>
                  </a:schemeClr>
                </a:solidFill>
              </a:rPr>
              <a:t>2.</a:t>
            </a:r>
            <a:r>
              <a:rPr lang="zh-CN" altLang="en-US" sz="2200" dirty="0">
                <a:solidFill>
                  <a:schemeClr val="bg2">
                    <a:lumMod val="60000"/>
                    <a:lumOff val="40000"/>
                  </a:schemeClr>
                </a:solidFill>
              </a:rPr>
              <a:t>GPT-1 的核心创新与研究成果</a:t>
            </a:r>
          </a:p>
          <a:p>
            <a:endParaRPr lang="zh-CN" altLang="en-US" dirty="0"/>
          </a:p>
          <a:p>
            <a:endParaRPr lang="zh-CN" altLang="en-US" dirty="0"/>
          </a:p>
        </p:txBody>
      </p:sp>
      <p:sp>
        <p:nvSpPr>
          <p:cNvPr id="10" name="文本框 9">
            <a:extLst>
              <a:ext uri="{FF2B5EF4-FFF2-40B4-BE49-F238E27FC236}">
                <a16:creationId xmlns:a16="http://schemas.microsoft.com/office/drawing/2014/main" id="{036D40DA-47C1-624F-6E1A-CF3E6AD7F04E}"/>
              </a:ext>
            </a:extLst>
          </p:cNvPr>
          <p:cNvSpPr txBox="1"/>
          <p:nvPr/>
        </p:nvSpPr>
        <p:spPr>
          <a:xfrm>
            <a:off x="8631921" y="4570016"/>
            <a:ext cx="2972437" cy="1346522"/>
          </a:xfrm>
          <a:prstGeom prst="rect">
            <a:avLst/>
          </a:prstGeom>
          <a:noFill/>
        </p:spPr>
        <p:txBody>
          <a:bodyPr wrap="square" rtlCol="0">
            <a:spAutoFit/>
          </a:bodyPr>
          <a:lstStyle/>
          <a:p>
            <a:r>
              <a:rPr lang="zh-CN" altLang="en-US" sz="1350" dirty="0"/>
              <a:t>在 4 大类 NLU 任务（自然语言推断、问答、语义相似度、文本分类）中，单一通用模型击败了众多定制化模型。</a:t>
            </a:r>
          </a:p>
          <a:p>
            <a:r>
              <a:rPr lang="zh-CN" altLang="en-US" sz="1350" dirty="0"/>
              <a:t>12 个测试集中有 9 个刷新 SOTA（如常识推理提升 8.9%）</a:t>
            </a:r>
          </a:p>
          <a:p>
            <a:endParaRPr lang="zh-CN" altLang="en-US" dirty="0"/>
          </a:p>
        </p:txBody>
      </p:sp>
      <p:sp>
        <p:nvSpPr>
          <p:cNvPr id="11" name="文本框 10">
            <a:extLst>
              <a:ext uri="{FF2B5EF4-FFF2-40B4-BE49-F238E27FC236}">
                <a16:creationId xmlns:a16="http://schemas.microsoft.com/office/drawing/2014/main" id="{F16374EF-55D9-89B3-D641-C1C82C861BE1}"/>
              </a:ext>
            </a:extLst>
          </p:cNvPr>
          <p:cNvSpPr txBox="1"/>
          <p:nvPr/>
        </p:nvSpPr>
        <p:spPr>
          <a:xfrm>
            <a:off x="4735883" y="4570016"/>
            <a:ext cx="2720232" cy="1977464"/>
          </a:xfrm>
          <a:prstGeom prst="rect">
            <a:avLst/>
          </a:prstGeom>
          <a:noFill/>
        </p:spPr>
        <p:txBody>
          <a:bodyPr wrap="square" rtlCol="0">
            <a:spAutoFit/>
          </a:bodyPr>
          <a:lstStyle/>
          <a:p>
            <a:r>
              <a:rPr lang="zh-CN" altLang="en-US" sz="1350" dirty="0"/>
              <a:t>采用 Transformer：相比 RNN，拥有更结构化的记忆，能更好地处理长距离依赖。</a:t>
            </a:r>
          </a:p>
          <a:p>
            <a:r>
              <a:rPr lang="zh-CN" altLang="en-US" sz="1350" dirty="0"/>
              <a:t>输入改造 (Input Transformations)：将结构化输入转化为连续的序列（Traversal-style），无需修改模型架构即可适配不同任务</a:t>
            </a:r>
          </a:p>
          <a:p>
            <a:endParaRPr lang="zh-CN" altLang="en-US" dirty="0"/>
          </a:p>
          <a:p>
            <a:endParaRPr lang="zh-CN" altLang="en-US" dirty="0"/>
          </a:p>
        </p:txBody>
      </p:sp>
      <p:sp>
        <p:nvSpPr>
          <p:cNvPr id="12" name="文本框 11">
            <a:extLst>
              <a:ext uri="{FF2B5EF4-FFF2-40B4-BE49-F238E27FC236}">
                <a16:creationId xmlns:a16="http://schemas.microsoft.com/office/drawing/2014/main" id="{FF24C4AD-A940-8756-8C75-81F1FE5D778E}"/>
              </a:ext>
            </a:extLst>
          </p:cNvPr>
          <p:cNvSpPr txBox="1"/>
          <p:nvPr/>
        </p:nvSpPr>
        <p:spPr>
          <a:xfrm>
            <a:off x="888684" y="4740588"/>
            <a:ext cx="2813045" cy="1346522"/>
          </a:xfrm>
          <a:prstGeom prst="rect">
            <a:avLst/>
          </a:prstGeom>
          <a:noFill/>
        </p:spPr>
        <p:txBody>
          <a:bodyPr wrap="square" rtlCol="0">
            <a:spAutoFit/>
          </a:bodyPr>
          <a:lstStyle/>
          <a:p>
            <a:r>
              <a:rPr lang="zh-CN" altLang="en-US" sz="1350" dirty="0"/>
              <a:t>阶段一：无监督预训练 (Pre-training)：利用海量无标签语料，通过语言模型目标训练初始参数</a:t>
            </a:r>
          </a:p>
          <a:p>
            <a:r>
              <a:rPr lang="zh-CN" altLang="en-US" sz="1350" dirty="0"/>
              <a:t>阶段二：有监督微调 (Fine-tuning)：针对下游特定任务进行参数微调</a:t>
            </a:r>
          </a:p>
          <a:p>
            <a:endParaRPr lang="zh-CN" altLang="en-US" dirty="0"/>
          </a:p>
        </p:txBody>
      </p:sp>
      <p:pic>
        <p:nvPicPr>
          <p:cNvPr id="13" name="Google Shape;179;p18" descr="image.png">
            <a:extLst>
              <a:ext uri="{FF2B5EF4-FFF2-40B4-BE49-F238E27FC236}">
                <a16:creationId xmlns:a16="http://schemas.microsoft.com/office/drawing/2014/main" id="{FA5753F6-FA3F-2BB9-BB4A-BA785CDA4B2A}"/>
              </a:ext>
            </a:extLst>
          </p:cNvPr>
          <p:cNvPicPr preferRelativeResize="0"/>
          <p:nvPr/>
        </p:nvPicPr>
        <p:blipFill rotWithShape="1">
          <a:blip r:embed="rId3">
            <a:alphaModFix/>
          </a:blip>
          <a:srcRect/>
          <a:stretch/>
        </p:blipFill>
        <p:spPr>
          <a:xfrm>
            <a:off x="888684" y="4012208"/>
            <a:ext cx="476250" cy="381000"/>
          </a:xfrm>
          <a:prstGeom prst="rect">
            <a:avLst/>
          </a:prstGeom>
          <a:noFill/>
          <a:ln>
            <a:noFill/>
          </a:ln>
        </p:spPr>
      </p:pic>
      <p:pic>
        <p:nvPicPr>
          <p:cNvPr id="14" name="Google Shape;180;p18" descr="image.png">
            <a:extLst>
              <a:ext uri="{FF2B5EF4-FFF2-40B4-BE49-F238E27FC236}">
                <a16:creationId xmlns:a16="http://schemas.microsoft.com/office/drawing/2014/main" id="{B1D79026-9D3A-5E54-74A9-6356D82F18FC}"/>
              </a:ext>
            </a:extLst>
          </p:cNvPr>
          <p:cNvPicPr preferRelativeResize="0"/>
          <p:nvPr/>
        </p:nvPicPr>
        <p:blipFill rotWithShape="1">
          <a:blip r:embed="rId4">
            <a:alphaModFix/>
          </a:blip>
          <a:srcRect/>
          <a:stretch/>
        </p:blipFill>
        <p:spPr>
          <a:xfrm>
            <a:off x="4584858" y="4012208"/>
            <a:ext cx="476250" cy="381000"/>
          </a:xfrm>
          <a:prstGeom prst="rect">
            <a:avLst/>
          </a:prstGeom>
          <a:noFill/>
          <a:ln>
            <a:noFill/>
          </a:ln>
        </p:spPr>
      </p:pic>
      <p:pic>
        <p:nvPicPr>
          <p:cNvPr id="15" name="Google Shape;181;p18" descr="image.png">
            <a:extLst>
              <a:ext uri="{FF2B5EF4-FFF2-40B4-BE49-F238E27FC236}">
                <a16:creationId xmlns:a16="http://schemas.microsoft.com/office/drawing/2014/main" id="{F7101F5C-C69C-71BD-E66C-7E470E393FAF}"/>
              </a:ext>
            </a:extLst>
          </p:cNvPr>
          <p:cNvPicPr preferRelativeResize="0"/>
          <p:nvPr/>
        </p:nvPicPr>
        <p:blipFill rotWithShape="1">
          <a:blip r:embed="rId5">
            <a:alphaModFix/>
          </a:blip>
          <a:srcRect/>
          <a:stretch/>
        </p:blipFill>
        <p:spPr>
          <a:xfrm>
            <a:off x="8485584" y="4012208"/>
            <a:ext cx="381000" cy="381000"/>
          </a:xfrm>
          <a:prstGeom prst="rect">
            <a:avLst/>
          </a:prstGeom>
          <a:noFill/>
          <a:ln>
            <a:noFill/>
          </a:ln>
        </p:spPr>
      </p:pic>
      <p:sp>
        <p:nvSpPr>
          <p:cNvPr id="16" name="文本框 15">
            <a:extLst>
              <a:ext uri="{FF2B5EF4-FFF2-40B4-BE49-F238E27FC236}">
                <a16:creationId xmlns:a16="http://schemas.microsoft.com/office/drawing/2014/main" id="{7B8546EC-EFF2-0425-7C5F-B26F6BB000E6}"/>
              </a:ext>
            </a:extLst>
          </p:cNvPr>
          <p:cNvSpPr txBox="1"/>
          <p:nvPr/>
        </p:nvSpPr>
        <p:spPr>
          <a:xfrm>
            <a:off x="1220833" y="4046796"/>
            <a:ext cx="2598847" cy="830997"/>
          </a:xfrm>
          <a:prstGeom prst="rect">
            <a:avLst/>
          </a:prstGeom>
          <a:noFill/>
        </p:spPr>
        <p:txBody>
          <a:bodyPr wrap="square" rtlCol="0">
            <a:spAutoFit/>
          </a:bodyPr>
          <a:lstStyle/>
          <a:p>
            <a:r>
              <a:rPr lang="zh-CN" altLang="en-US" sz="1700" dirty="0"/>
              <a:t>（</a:t>
            </a:r>
            <a:r>
              <a:rPr lang="en-US" altLang="zh-CN" sz="1700" dirty="0"/>
              <a:t>1</a:t>
            </a:r>
            <a:r>
              <a:rPr lang="zh-CN" altLang="en-US" sz="1700" dirty="0"/>
              <a:t>）通用框架：半监督两阶段学习</a:t>
            </a:r>
          </a:p>
          <a:p>
            <a:endParaRPr lang="zh-CN" altLang="en-US" dirty="0"/>
          </a:p>
        </p:txBody>
      </p:sp>
      <p:sp>
        <p:nvSpPr>
          <p:cNvPr id="17" name="文本框 16">
            <a:extLst>
              <a:ext uri="{FF2B5EF4-FFF2-40B4-BE49-F238E27FC236}">
                <a16:creationId xmlns:a16="http://schemas.microsoft.com/office/drawing/2014/main" id="{8D58603E-CA84-6855-5DCF-D305CFDCA796}"/>
              </a:ext>
            </a:extLst>
          </p:cNvPr>
          <p:cNvSpPr txBox="1"/>
          <p:nvPr/>
        </p:nvSpPr>
        <p:spPr>
          <a:xfrm>
            <a:off x="4995545" y="4034453"/>
            <a:ext cx="2704587" cy="569387"/>
          </a:xfrm>
          <a:prstGeom prst="rect">
            <a:avLst/>
          </a:prstGeom>
          <a:noFill/>
        </p:spPr>
        <p:txBody>
          <a:bodyPr wrap="none" rtlCol="0">
            <a:spAutoFit/>
          </a:bodyPr>
          <a:lstStyle/>
          <a:p>
            <a:r>
              <a:rPr lang="zh-CN" altLang="en-US" sz="1700" dirty="0"/>
              <a:t>（</a:t>
            </a:r>
            <a:r>
              <a:rPr lang="en-US" altLang="zh-CN" sz="1700" dirty="0"/>
              <a:t>2</a:t>
            </a:r>
            <a:r>
              <a:rPr lang="zh-CN" altLang="en-US" sz="1700" dirty="0"/>
              <a:t>）模型架构与迁移策略</a:t>
            </a:r>
          </a:p>
          <a:p>
            <a:endParaRPr lang="zh-CN" altLang="en-US" dirty="0"/>
          </a:p>
        </p:txBody>
      </p:sp>
      <p:sp>
        <p:nvSpPr>
          <p:cNvPr id="18" name="文本框 17">
            <a:extLst>
              <a:ext uri="{FF2B5EF4-FFF2-40B4-BE49-F238E27FC236}">
                <a16:creationId xmlns:a16="http://schemas.microsoft.com/office/drawing/2014/main" id="{DD3EF989-147D-18DA-0D5A-E36C5547F8F5}"/>
              </a:ext>
            </a:extLst>
          </p:cNvPr>
          <p:cNvSpPr txBox="1"/>
          <p:nvPr/>
        </p:nvSpPr>
        <p:spPr>
          <a:xfrm>
            <a:off x="8948858" y="4046796"/>
            <a:ext cx="2318103" cy="569387"/>
          </a:xfrm>
          <a:prstGeom prst="rect">
            <a:avLst/>
          </a:prstGeom>
          <a:noFill/>
        </p:spPr>
        <p:txBody>
          <a:bodyPr wrap="square" rtlCol="0">
            <a:spAutoFit/>
          </a:bodyPr>
          <a:lstStyle/>
          <a:p>
            <a:r>
              <a:rPr lang="zh-CN" altLang="en-US" sz="1700" dirty="0"/>
              <a:t>（</a:t>
            </a:r>
            <a:r>
              <a:rPr lang="en-US" altLang="zh-CN" sz="1700" dirty="0"/>
              <a:t>3</a:t>
            </a:r>
            <a:r>
              <a:rPr lang="zh-CN" altLang="en-US" sz="1700" dirty="0"/>
              <a:t>）实验突破</a:t>
            </a:r>
          </a:p>
          <a:p>
            <a:endParaRPr lang="zh-CN" altLang="en-US" dirty="0"/>
          </a:p>
        </p:txBody>
      </p:sp>
      <p:sp>
        <p:nvSpPr>
          <p:cNvPr id="19" name="Google Shape;146;p16">
            <a:extLst>
              <a:ext uri="{FF2B5EF4-FFF2-40B4-BE49-F238E27FC236}">
                <a16:creationId xmlns:a16="http://schemas.microsoft.com/office/drawing/2014/main" id="{B8C81FA7-DAF1-3130-B1FE-CDA79DB2DEA0}"/>
              </a:ext>
            </a:extLst>
          </p:cNvPr>
          <p:cNvSpPr txBox="1"/>
          <p:nvPr/>
        </p:nvSpPr>
        <p:spPr>
          <a:xfrm>
            <a:off x="1126809" y="2372768"/>
            <a:ext cx="1524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dirty="0">
                <a:solidFill>
                  <a:srgbClr val="3B82F6"/>
                </a:solidFill>
                <a:latin typeface="Arial"/>
                <a:ea typeface="Arial"/>
                <a:cs typeface="Arial"/>
                <a:sym typeface="Arial"/>
              </a:rPr>
              <a:t>►</a:t>
            </a:r>
            <a:endParaRPr dirty="0"/>
          </a:p>
        </p:txBody>
      </p:sp>
      <p:sp>
        <p:nvSpPr>
          <p:cNvPr id="20" name="Google Shape;146;p16">
            <a:extLst>
              <a:ext uri="{FF2B5EF4-FFF2-40B4-BE49-F238E27FC236}">
                <a16:creationId xmlns:a16="http://schemas.microsoft.com/office/drawing/2014/main" id="{7DAC8D00-5923-ADE0-1793-FDD4FEEB4CA0}"/>
              </a:ext>
            </a:extLst>
          </p:cNvPr>
          <p:cNvSpPr txBox="1"/>
          <p:nvPr/>
        </p:nvSpPr>
        <p:spPr>
          <a:xfrm>
            <a:off x="1126809" y="2802891"/>
            <a:ext cx="1524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dirty="0">
                <a:solidFill>
                  <a:srgbClr val="3B82F6"/>
                </a:solidFill>
                <a:latin typeface="Arial"/>
                <a:ea typeface="Arial"/>
                <a:cs typeface="Arial"/>
                <a:sym typeface="Arial"/>
              </a:rPr>
              <a:t>►</a:t>
            </a:r>
            <a:endParaRPr dirty="0"/>
          </a:p>
        </p:txBody>
      </p:sp>
      <p:sp>
        <p:nvSpPr>
          <p:cNvPr id="23" name="Google Shape;211;p21">
            <a:extLst>
              <a:ext uri="{FF2B5EF4-FFF2-40B4-BE49-F238E27FC236}">
                <a16:creationId xmlns:a16="http://schemas.microsoft.com/office/drawing/2014/main" id="{D3247DF3-A3FE-8ACD-C487-D67BA843597A}"/>
              </a:ext>
            </a:extLst>
          </p:cNvPr>
          <p:cNvSpPr/>
          <p:nvPr/>
        </p:nvSpPr>
        <p:spPr>
          <a:xfrm>
            <a:off x="611663" y="597823"/>
            <a:ext cx="54293" cy="279627"/>
          </a:xfrm>
          <a:prstGeom prst="rect">
            <a:avLst/>
          </a:prstGeom>
          <a:solidFill>
            <a:srgbClr val="1A73E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srcRect/>
          <a:stretch>
            <a:fillRect/>
          </a:stretch>
        </p:blipFill>
        <p:spPr>
          <a:xfrm>
            <a:off x="425450" y="1419225"/>
            <a:ext cx="5476875" cy="5172710"/>
          </a:xfrm>
          <a:prstGeom prst="rect">
            <a:avLst/>
          </a:prstGeom>
          <a:noFill/>
          <a:ln>
            <a:noFill/>
          </a:ln>
        </p:spPr>
      </p:pic>
      <p:pic>
        <p:nvPicPr>
          <p:cNvPr id="86" name="Google Shape;86;p13" descr="image.png"/>
          <p:cNvPicPr preferRelativeResize="0"/>
          <p:nvPr/>
        </p:nvPicPr>
        <p:blipFill rotWithShape="1">
          <a:blip r:embed="rId5"/>
          <a:srcRect/>
          <a:stretch>
            <a:fillRect/>
          </a:stretch>
        </p:blipFill>
        <p:spPr>
          <a:xfrm>
            <a:off x="711200" y="2642235"/>
            <a:ext cx="3101340" cy="367665"/>
          </a:xfrm>
          <a:prstGeom prst="rect">
            <a:avLst/>
          </a:prstGeom>
          <a:noFill/>
          <a:ln>
            <a:noFill/>
          </a:ln>
        </p:spPr>
      </p:pic>
      <p:pic>
        <p:nvPicPr>
          <p:cNvPr id="87" name="Google Shape;87;p13" descr="image.png"/>
          <p:cNvPicPr preferRelativeResize="0"/>
          <p:nvPr/>
        </p:nvPicPr>
        <p:blipFill rotWithShape="1">
          <a:blip r:embed="rId6"/>
          <a:srcRect/>
          <a:stretch>
            <a:fillRect/>
          </a:stretch>
        </p:blipFill>
        <p:spPr>
          <a:xfrm>
            <a:off x="666750" y="4046487"/>
            <a:ext cx="4905375" cy="1234231"/>
          </a:xfrm>
          <a:prstGeom prst="rect">
            <a:avLst/>
          </a:prstGeom>
          <a:noFill/>
          <a:ln>
            <a:noFill/>
          </a:ln>
        </p:spPr>
      </p:pic>
      <p:pic>
        <p:nvPicPr>
          <p:cNvPr id="88" name="Google Shape;88;p13" descr="image.png"/>
          <p:cNvPicPr preferRelativeResize="0"/>
          <p:nvPr/>
        </p:nvPicPr>
        <p:blipFill rotWithShape="1">
          <a:blip r:embed="rId7"/>
          <a:srcRect/>
          <a:stretch>
            <a:fillRect/>
          </a:stretch>
        </p:blipFill>
        <p:spPr>
          <a:xfrm>
            <a:off x="6238875" y="1419225"/>
            <a:ext cx="5578475" cy="2627630"/>
          </a:xfrm>
          <a:prstGeom prst="rect">
            <a:avLst/>
          </a:prstGeom>
          <a:noFill/>
          <a:ln>
            <a:noFill/>
          </a:ln>
        </p:spPr>
      </p:pic>
      <p:pic>
        <p:nvPicPr>
          <p:cNvPr id="89" name="Google Shape;89;p13" descr="image.png"/>
          <p:cNvPicPr preferRelativeResize="0"/>
          <p:nvPr/>
        </p:nvPicPr>
        <p:blipFill rotWithShape="1">
          <a:blip r:embed="rId8"/>
          <a:srcRect/>
          <a:stretch>
            <a:fillRect/>
          </a:stretch>
        </p:blipFill>
        <p:spPr>
          <a:xfrm>
            <a:off x="6307455" y="4201795"/>
            <a:ext cx="4568190" cy="2390140"/>
          </a:xfrm>
          <a:prstGeom prst="rect">
            <a:avLst/>
          </a:prstGeom>
          <a:noFill/>
          <a:ln>
            <a:noFill/>
          </a:ln>
        </p:spPr>
      </p:pic>
      <p:pic>
        <p:nvPicPr>
          <p:cNvPr id="90" name="Google Shape;90;p13" descr="image.png"/>
          <p:cNvPicPr preferRelativeResize="0"/>
          <p:nvPr/>
        </p:nvPicPr>
        <p:blipFill rotWithShape="1">
          <a:blip r:embed="rId9"/>
          <a:srcRect/>
          <a:stretch>
            <a:fillRect/>
          </a:stretch>
        </p:blipFill>
        <p:spPr>
          <a:xfrm>
            <a:off x="6438900" y="2738120"/>
            <a:ext cx="3030220" cy="358775"/>
          </a:xfrm>
          <a:prstGeom prst="rect">
            <a:avLst/>
          </a:prstGeom>
          <a:noFill/>
          <a:ln>
            <a:noFill/>
          </a:ln>
        </p:spPr>
      </p:pic>
      <p:pic>
        <p:nvPicPr>
          <p:cNvPr id="91" name="Google Shape;91;p13" descr="image.png"/>
          <p:cNvPicPr preferRelativeResize="0"/>
          <p:nvPr/>
        </p:nvPicPr>
        <p:blipFill rotWithShape="1">
          <a:blip r:embed="rId10"/>
          <a:srcRect/>
          <a:stretch>
            <a:fillRect/>
          </a:stretch>
        </p:blipFill>
        <p:spPr>
          <a:xfrm>
            <a:off x="6433185" y="3479800"/>
            <a:ext cx="3145155" cy="360045"/>
          </a:xfrm>
          <a:prstGeom prst="rect">
            <a:avLst/>
          </a:prstGeom>
          <a:noFill/>
          <a:ln>
            <a:noFill/>
          </a:ln>
        </p:spPr>
      </p:pic>
      <p:pic>
        <p:nvPicPr>
          <p:cNvPr id="92" name="Google Shape;92;p13" descr="image.png"/>
          <p:cNvPicPr preferRelativeResize="0"/>
          <p:nvPr/>
        </p:nvPicPr>
        <p:blipFill rotWithShape="1">
          <a:blip r:embed="rId11"/>
          <a:srcRect/>
          <a:stretch>
            <a:fillRect/>
          </a:stretch>
        </p:blipFill>
        <p:spPr>
          <a:xfrm>
            <a:off x="6439535" y="5124450"/>
            <a:ext cx="3030855" cy="349885"/>
          </a:xfrm>
          <a:prstGeom prst="rect">
            <a:avLst/>
          </a:prstGeom>
          <a:noFill/>
          <a:ln>
            <a:noFill/>
          </a:ln>
        </p:spPr>
      </p:pic>
      <p:pic>
        <p:nvPicPr>
          <p:cNvPr id="93" name="Google Shape;93;p13" descr="image.png"/>
          <p:cNvPicPr preferRelativeResize="0"/>
          <p:nvPr/>
        </p:nvPicPr>
        <p:blipFill rotWithShape="1">
          <a:blip r:embed="rId12"/>
          <a:srcRect/>
          <a:stretch>
            <a:fillRect/>
          </a:stretch>
        </p:blipFill>
        <p:spPr>
          <a:xfrm>
            <a:off x="6438900" y="5593715"/>
            <a:ext cx="4211955" cy="826770"/>
          </a:xfrm>
          <a:prstGeom prst="rect">
            <a:avLst/>
          </a:prstGeom>
          <a:noFill/>
          <a:ln>
            <a:noFill/>
          </a:ln>
        </p:spPr>
      </p:pic>
      <p:sp>
        <p:nvSpPr>
          <p:cNvPr id="94" name="Google Shape;94;p13"/>
          <p:cNvSpPr txBox="1"/>
          <p:nvPr/>
        </p:nvSpPr>
        <p:spPr>
          <a:xfrm>
            <a:off x="507682" y="393758"/>
            <a:ext cx="4768850"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altLang="en-US" sz="2800" b="1" dirty="0">
                <a:solidFill>
                  <a:srgbClr val="1E3A8A"/>
                </a:solidFill>
                <a:latin typeface="Poppins" panose="00000500000000000000"/>
                <a:ea typeface="Poppins" panose="00000500000000000000"/>
                <a:cs typeface="Poppins" panose="00000500000000000000"/>
                <a:sym typeface="Poppins" panose="00000500000000000000"/>
              </a:rPr>
              <a:t>二</a:t>
            </a:r>
            <a:r>
              <a:rPr lang="en-US" sz="2800" b="1" i="0" u="none" strike="noStrike" cap="none" dirty="0">
                <a:solidFill>
                  <a:srgbClr val="1E3A8A"/>
                </a:solidFill>
                <a:latin typeface="Poppins" panose="00000500000000000000"/>
                <a:ea typeface="Poppins" panose="00000500000000000000"/>
                <a:cs typeface="Poppins" panose="00000500000000000000"/>
                <a:sym typeface="Poppins" panose="00000500000000000000"/>
              </a:rPr>
              <a:t>.GPT-1 </a:t>
            </a:r>
            <a:r>
              <a:rPr lang="en-US" sz="2800" b="1" i="0" u="none" strike="noStrike" cap="none" dirty="0" err="1">
                <a:solidFill>
                  <a:srgbClr val="1E3A8A"/>
                </a:solidFill>
                <a:latin typeface="Poppins" panose="00000500000000000000"/>
                <a:ea typeface="Poppins" panose="00000500000000000000"/>
                <a:cs typeface="Poppins" panose="00000500000000000000"/>
                <a:sym typeface="Poppins" panose="00000500000000000000"/>
              </a:rPr>
              <a:t>核心机制解析</a:t>
            </a:r>
            <a:endParaRPr lang="en-US" sz="2800" b="1" i="0" u="none" strike="noStrike" cap="none" dirty="0">
              <a:solidFill>
                <a:srgbClr val="1E3A8A"/>
              </a:solidFill>
              <a:latin typeface="Poppins" panose="00000500000000000000"/>
              <a:ea typeface="Poppins" panose="00000500000000000000"/>
              <a:cs typeface="Poppins" panose="00000500000000000000"/>
              <a:sym typeface="Poppins" panose="00000500000000000000"/>
            </a:endParaRPr>
          </a:p>
        </p:txBody>
      </p:sp>
      <p:sp>
        <p:nvSpPr>
          <p:cNvPr id="95" name="Google Shape;95;p13"/>
          <p:cNvSpPr txBox="1"/>
          <p:nvPr/>
        </p:nvSpPr>
        <p:spPr>
          <a:xfrm>
            <a:off x="6791325" y="704850"/>
            <a:ext cx="49244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rPr>
              <a:t>Generative Pre-Training &amp; Supervised Fine-Tuning</a:t>
            </a:r>
          </a:p>
        </p:txBody>
      </p:sp>
      <p:sp>
        <p:nvSpPr>
          <p:cNvPr id="96" name="Google Shape;96;p13"/>
          <p:cNvSpPr txBox="1"/>
          <p:nvPr/>
        </p:nvSpPr>
        <p:spPr>
          <a:xfrm>
            <a:off x="762000" y="1704975"/>
            <a:ext cx="5150643" cy="352425"/>
          </a:xfrm>
          <a:prstGeom prst="rect">
            <a:avLst/>
          </a:prstGeom>
          <a:noFill/>
          <a:ln>
            <a:noFill/>
          </a:ln>
        </p:spPr>
        <p:txBody>
          <a:bodyPr spcFirstLastPara="1" wrap="square" lIns="333375" tIns="0" rIns="0" bIns="0" anchor="t" anchorCtr="0">
            <a:spAutoFit/>
          </a:bodyPr>
          <a:lstStyle/>
          <a:p>
            <a:pPr marL="0" marR="0" lvl="0" indent="0" algn="l" rtl="0">
              <a:spcBef>
                <a:spcPts val="0"/>
              </a:spcBef>
              <a:spcAft>
                <a:spcPts val="0"/>
              </a:spcAft>
              <a:buNone/>
            </a:pPr>
            <a:r>
              <a:rPr lang="en-US" sz="1800" b="1" i="0" u="none" strike="noStrike" cap="none">
                <a:solidFill>
                  <a:srgbClr val="1E40AF"/>
                </a:solidFill>
                <a:latin typeface="Poppins" panose="00000500000000000000"/>
                <a:ea typeface="Poppins" panose="00000500000000000000"/>
                <a:cs typeface="Poppins" panose="00000500000000000000"/>
                <a:sym typeface="Poppins" panose="00000500000000000000"/>
              </a:rPr>
              <a:t>1. 无监督预训练 (Pre-training)</a:t>
            </a:r>
          </a:p>
        </p:txBody>
      </p:sp>
      <p:sp>
        <p:nvSpPr>
          <p:cNvPr id="97" name="Google Shape;97;p13"/>
          <p:cNvSpPr txBox="1"/>
          <p:nvPr/>
        </p:nvSpPr>
        <p:spPr>
          <a:xfrm>
            <a:off x="711200" y="2057400"/>
            <a:ext cx="4905375"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334155"/>
                </a:solidFill>
                <a:latin typeface="Lato" panose="020F0302020204030203"/>
                <a:ea typeface="Lato" panose="020F0302020204030203"/>
                <a:cs typeface="Lato" panose="020F0302020204030203"/>
                <a:sym typeface="Lato" panose="020F0302020204030203"/>
              </a:rPr>
              <a:t>给定无监督的预训练语料 ，目标为最大化以下似然函数：</a:t>
            </a:r>
          </a:p>
        </p:txBody>
      </p:sp>
      <p:sp>
        <p:nvSpPr>
          <p:cNvPr id="98" name="Google Shape;98;p13"/>
          <p:cNvSpPr txBox="1"/>
          <p:nvPr/>
        </p:nvSpPr>
        <p:spPr>
          <a:xfrm>
            <a:off x="866775" y="3096587"/>
            <a:ext cx="4905375" cy="29464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334155"/>
                </a:solidFill>
                <a:latin typeface="Lato" panose="020F0302020204030203"/>
                <a:ea typeface="Lato" panose="020F0302020204030203"/>
                <a:cs typeface="Lato" panose="020F0302020204030203"/>
                <a:sym typeface="Lato" panose="020F0302020204030203"/>
              </a:rPr>
              <a:t>为上下文窗口大小，    </a:t>
            </a:r>
            <a:r>
              <a:rPr lang="zh-CN" altLang="en-US" sz="1200" b="0" i="0" u="none" strike="noStrike" cap="none">
                <a:solidFill>
                  <a:srgbClr val="334155"/>
                </a:solidFill>
                <a:latin typeface="Lato" panose="020F0302020204030203"/>
                <a:ea typeface="Lato" panose="020F0302020204030203"/>
                <a:cs typeface="Lato" panose="020F0302020204030203"/>
                <a:sym typeface="Lato" panose="020F0302020204030203"/>
              </a:rPr>
              <a:t>为</a:t>
            </a:r>
            <a:r>
              <a:rPr lang="en-US" sz="1200" b="0" i="0" u="none" strike="noStrike" cap="none">
                <a:solidFill>
                  <a:srgbClr val="334155"/>
                </a:solidFill>
                <a:latin typeface="Lato" panose="020F0302020204030203"/>
                <a:ea typeface="Lato" panose="020F0302020204030203"/>
                <a:cs typeface="Lato" panose="020F0302020204030203"/>
                <a:sym typeface="Lato" panose="020F0302020204030203"/>
              </a:rPr>
              <a:t>条件概率</a:t>
            </a:r>
            <a:r>
              <a:rPr lang="zh-CN" altLang="en-US" sz="1200" b="0" i="0" u="none" strike="noStrike" cap="none">
                <a:solidFill>
                  <a:srgbClr val="334155"/>
                </a:solidFill>
                <a:latin typeface="Lato" panose="020F0302020204030203"/>
                <a:ea typeface="Lato" panose="020F0302020204030203"/>
                <a:cs typeface="Lato" panose="020F0302020204030203"/>
                <a:sym typeface="Lato" panose="020F0302020204030203"/>
              </a:rPr>
              <a:t>且</a:t>
            </a:r>
            <a:r>
              <a:rPr lang="en-US" sz="1200" b="0" i="0" u="none" strike="noStrike" cap="none">
                <a:solidFill>
                  <a:srgbClr val="334155"/>
                </a:solidFill>
                <a:latin typeface="Lato" panose="020F0302020204030203"/>
                <a:ea typeface="Lato" panose="020F0302020204030203"/>
                <a:cs typeface="Lato" panose="020F0302020204030203"/>
                <a:sym typeface="Lato" panose="020F0302020204030203"/>
              </a:rPr>
              <a:t>由参数为     的神经网络构建。</a:t>
            </a:r>
          </a:p>
        </p:txBody>
      </p:sp>
      <p:sp>
        <p:nvSpPr>
          <p:cNvPr id="99" name="Google Shape;99;p13"/>
          <p:cNvSpPr txBox="1"/>
          <p:nvPr/>
        </p:nvSpPr>
        <p:spPr>
          <a:xfrm>
            <a:off x="681355" y="3642627"/>
            <a:ext cx="5150643"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2563EB"/>
                </a:solidFill>
                <a:latin typeface="Poppins" panose="00000500000000000000"/>
                <a:ea typeface="Poppins" panose="00000500000000000000"/>
                <a:cs typeface="Poppins" panose="00000500000000000000"/>
                <a:sym typeface="Poppins" panose="00000500000000000000"/>
              </a:rPr>
              <a:t>Transformer 模型架构 (特征提取)</a:t>
            </a:r>
          </a:p>
        </p:txBody>
      </p:sp>
      <p:sp>
        <p:nvSpPr>
          <p:cNvPr id="100" name="Google Shape;100;p13"/>
          <p:cNvSpPr/>
          <p:nvPr/>
        </p:nvSpPr>
        <p:spPr>
          <a:xfrm>
            <a:off x="666750" y="3918852"/>
            <a:ext cx="4905375" cy="9525"/>
          </a:xfrm>
          <a:prstGeom prst="rect">
            <a:avLst/>
          </a:prstGeom>
          <a:solidFill>
            <a:srgbClr val="BFDB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01" name="Google Shape;101;p13" descr="image.png"/>
          <p:cNvPicPr preferRelativeResize="0"/>
          <p:nvPr/>
        </p:nvPicPr>
        <p:blipFill rotWithShape="1">
          <a:blip r:embed="rId13"/>
          <a:srcRect/>
          <a:stretch>
            <a:fillRect/>
          </a:stretch>
        </p:blipFill>
        <p:spPr>
          <a:xfrm>
            <a:off x="762000" y="1771650"/>
            <a:ext cx="257175" cy="228600"/>
          </a:xfrm>
          <a:prstGeom prst="rect">
            <a:avLst/>
          </a:prstGeom>
          <a:noFill/>
          <a:ln>
            <a:noFill/>
          </a:ln>
        </p:spPr>
      </p:pic>
      <p:pic>
        <p:nvPicPr>
          <p:cNvPr id="102" name="Google Shape;102;p13" descr="image.png"/>
          <p:cNvPicPr preferRelativeResize="0"/>
          <p:nvPr/>
        </p:nvPicPr>
        <p:blipFill rotWithShape="1">
          <a:blip r:embed="rId14"/>
          <a:srcRect/>
          <a:stretch>
            <a:fillRect/>
          </a:stretch>
        </p:blipFill>
        <p:spPr>
          <a:xfrm>
            <a:off x="711200" y="2416175"/>
            <a:ext cx="1677888" cy="149274"/>
          </a:xfrm>
          <a:prstGeom prst="rect">
            <a:avLst/>
          </a:prstGeom>
          <a:noFill/>
          <a:ln>
            <a:noFill/>
          </a:ln>
        </p:spPr>
      </p:pic>
      <p:pic>
        <p:nvPicPr>
          <p:cNvPr id="103" name="Google Shape;103;p13" descr="image.png"/>
          <p:cNvPicPr preferRelativeResize="0"/>
          <p:nvPr/>
        </p:nvPicPr>
        <p:blipFill rotWithShape="1">
          <a:blip r:embed="rId15"/>
          <a:srcRect/>
          <a:stretch>
            <a:fillRect/>
          </a:stretch>
        </p:blipFill>
        <p:spPr>
          <a:xfrm>
            <a:off x="866775" y="2738120"/>
            <a:ext cx="2945765" cy="187960"/>
          </a:xfrm>
          <a:prstGeom prst="rect">
            <a:avLst/>
          </a:prstGeom>
          <a:noFill/>
          <a:ln>
            <a:noFill/>
          </a:ln>
        </p:spPr>
      </p:pic>
      <p:pic>
        <p:nvPicPr>
          <p:cNvPr id="104" name="Google Shape;104;p13" descr="image.png"/>
          <p:cNvPicPr preferRelativeResize="0"/>
          <p:nvPr/>
        </p:nvPicPr>
        <p:blipFill rotWithShape="1">
          <a:blip r:embed="rId16"/>
          <a:srcRect/>
          <a:stretch>
            <a:fillRect/>
          </a:stretch>
        </p:blipFill>
        <p:spPr>
          <a:xfrm>
            <a:off x="711200" y="3191510"/>
            <a:ext cx="117475" cy="149225"/>
          </a:xfrm>
          <a:prstGeom prst="rect">
            <a:avLst/>
          </a:prstGeom>
          <a:noFill/>
          <a:ln>
            <a:noFill/>
          </a:ln>
        </p:spPr>
      </p:pic>
      <p:pic>
        <p:nvPicPr>
          <p:cNvPr id="105" name="Google Shape;105;p13" descr="image.png"/>
          <p:cNvPicPr preferRelativeResize="0"/>
          <p:nvPr/>
        </p:nvPicPr>
        <p:blipFill rotWithShape="1">
          <a:blip r:embed="rId17"/>
          <a:srcRect/>
          <a:stretch>
            <a:fillRect/>
          </a:stretch>
        </p:blipFill>
        <p:spPr>
          <a:xfrm>
            <a:off x="2201545" y="3191510"/>
            <a:ext cx="117475" cy="149225"/>
          </a:xfrm>
          <a:prstGeom prst="rect">
            <a:avLst/>
          </a:prstGeom>
          <a:noFill/>
          <a:ln>
            <a:noFill/>
          </a:ln>
        </p:spPr>
      </p:pic>
      <p:pic>
        <p:nvPicPr>
          <p:cNvPr id="106" name="Google Shape;106;p13" descr="image.png"/>
          <p:cNvPicPr preferRelativeResize="0"/>
          <p:nvPr/>
        </p:nvPicPr>
        <p:blipFill rotWithShape="1">
          <a:blip r:embed="rId18"/>
          <a:srcRect/>
          <a:stretch>
            <a:fillRect/>
          </a:stretch>
        </p:blipFill>
        <p:spPr>
          <a:xfrm>
            <a:off x="3882390" y="3191510"/>
            <a:ext cx="113665" cy="156845"/>
          </a:xfrm>
          <a:prstGeom prst="rect">
            <a:avLst/>
          </a:prstGeom>
          <a:noFill/>
          <a:ln>
            <a:noFill/>
          </a:ln>
        </p:spPr>
      </p:pic>
      <p:sp>
        <p:nvSpPr>
          <p:cNvPr id="108" name="Google Shape;108;p13"/>
          <p:cNvSpPr txBox="1"/>
          <p:nvPr/>
        </p:nvSpPr>
        <p:spPr>
          <a:xfrm>
            <a:off x="828675" y="5544244"/>
            <a:ext cx="4714875" cy="294640"/>
          </a:xfrm>
          <a:prstGeom prst="rect">
            <a:avLst/>
          </a:prstGeom>
          <a:noFill/>
          <a:ln>
            <a:noFill/>
          </a:ln>
        </p:spPr>
        <p:txBody>
          <a:bodyPr spcFirstLastPara="1" wrap="square" lIns="85725" tIns="0" rIns="0" bIns="0" anchor="t" anchorCtr="0">
            <a:spAutoFit/>
          </a:bodyPr>
          <a:lstStyle/>
          <a:p>
            <a:pPr marL="0" marR="0" lvl="0" indent="0" algn="l" rtl="0">
              <a:lnSpc>
                <a:spcPct val="160000"/>
              </a:lnSpc>
              <a:spcBef>
                <a:spcPts val="0"/>
              </a:spcBef>
              <a:spcAft>
                <a:spcPts val="0"/>
              </a:spcAft>
              <a:buNone/>
            </a:pPr>
            <a:r>
              <a:rPr lang="zh-CN" altLang="en-US" sz="1200" b="0" i="0" u="none" strike="noStrike" cap="none">
                <a:solidFill>
                  <a:srgbClr val="475569"/>
                </a:solidFill>
                <a:latin typeface="Lato" panose="020F0302020204030203"/>
                <a:ea typeface="Lato" panose="020F0302020204030203"/>
                <a:cs typeface="Lato" panose="020F0302020204030203"/>
                <a:sym typeface="Lato" panose="020F0302020204030203"/>
              </a:rPr>
              <a:t>为</a:t>
            </a:r>
            <a:r>
              <a:rPr lang="en-US" sz="1200" b="0" i="0" u="none" strike="noStrike" cap="none">
                <a:solidFill>
                  <a:srgbClr val="475569"/>
                </a:solidFill>
                <a:latin typeface="Lato" panose="020F0302020204030203"/>
                <a:ea typeface="Lato" panose="020F0302020204030203"/>
                <a:cs typeface="Lato" panose="020F0302020204030203"/>
                <a:sym typeface="Lato" panose="020F0302020204030203"/>
              </a:rPr>
              <a:t>上下文 token 的标记向量。</a:t>
            </a:r>
          </a:p>
        </p:txBody>
      </p:sp>
      <p:sp>
        <p:nvSpPr>
          <p:cNvPr id="110" name="Google Shape;110;p13"/>
          <p:cNvSpPr txBox="1"/>
          <p:nvPr/>
        </p:nvSpPr>
        <p:spPr>
          <a:xfrm>
            <a:off x="828675" y="5812790"/>
            <a:ext cx="4714875" cy="243780"/>
          </a:xfrm>
          <a:prstGeom prst="rect">
            <a:avLst/>
          </a:prstGeom>
          <a:noFill/>
          <a:ln>
            <a:noFill/>
          </a:ln>
        </p:spPr>
        <p:txBody>
          <a:bodyPr spcFirstLastPara="1" wrap="square" lIns="85725"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475569"/>
                </a:solidFill>
                <a:latin typeface="Lato" panose="020F0302020204030203"/>
                <a:ea typeface="Lato" panose="020F0302020204030203"/>
                <a:cs typeface="Lato" panose="020F0302020204030203"/>
                <a:sym typeface="Lato" panose="020F0302020204030203"/>
              </a:rPr>
              <a:t>为词嵌入矩阵， 为位置嵌入矩阵。</a:t>
            </a:r>
          </a:p>
        </p:txBody>
      </p:sp>
      <p:sp>
        <p:nvSpPr>
          <p:cNvPr id="111" name="Google Shape;111;p13"/>
          <p:cNvSpPr txBox="1"/>
          <p:nvPr/>
        </p:nvSpPr>
        <p:spPr>
          <a:xfrm>
            <a:off x="6416675" y="1704975"/>
            <a:ext cx="5150643" cy="352425"/>
          </a:xfrm>
          <a:prstGeom prst="rect">
            <a:avLst/>
          </a:prstGeom>
          <a:noFill/>
          <a:ln>
            <a:noFill/>
          </a:ln>
        </p:spPr>
        <p:txBody>
          <a:bodyPr spcFirstLastPara="1" wrap="square" lIns="304800" tIns="0" rIns="0" bIns="0" anchor="t" anchorCtr="0">
            <a:spAutoFit/>
          </a:bodyPr>
          <a:lstStyle/>
          <a:p>
            <a:pPr marL="0" marR="0" lvl="0" indent="0" algn="l" rtl="0">
              <a:spcBef>
                <a:spcPts val="0"/>
              </a:spcBef>
              <a:spcAft>
                <a:spcPts val="0"/>
              </a:spcAft>
              <a:buNone/>
            </a:pPr>
            <a:r>
              <a:rPr lang="en-US" sz="1800" b="1" i="0" u="none" strike="noStrike" cap="none">
                <a:solidFill>
                  <a:srgbClr val="1E40AF"/>
                </a:solidFill>
                <a:latin typeface="Poppins" panose="00000500000000000000"/>
                <a:ea typeface="Poppins" panose="00000500000000000000"/>
                <a:cs typeface="Poppins" panose="00000500000000000000"/>
                <a:sym typeface="Poppins" panose="00000500000000000000"/>
              </a:rPr>
              <a:t>2. 监督微调 (Fine-tuning)</a:t>
            </a:r>
          </a:p>
        </p:txBody>
      </p:sp>
      <p:sp>
        <p:nvSpPr>
          <p:cNvPr id="112" name="Google Shape;112;p13"/>
          <p:cNvSpPr txBox="1"/>
          <p:nvPr/>
        </p:nvSpPr>
        <p:spPr>
          <a:xfrm>
            <a:off x="6433185" y="2057400"/>
            <a:ext cx="5189855" cy="58547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None/>
            </a:pPr>
            <a:r>
              <a:rPr lang="en-US" sz="1200" b="0" i="0" u="none" strike="noStrike" cap="none">
                <a:solidFill>
                  <a:srgbClr val="334155"/>
                </a:solidFill>
                <a:latin typeface="Lato" panose="020F0302020204030203"/>
                <a:ea typeface="Lato" panose="020F0302020204030203"/>
                <a:cs typeface="Lato" panose="020F0302020204030203"/>
                <a:sym typeface="Lato" panose="020F0302020204030203"/>
              </a:rPr>
              <a:t>对于有标注数据集      </a:t>
            </a:r>
            <a:r>
              <a:rPr lang="zh-CN" altLang="en-US" sz="1200" b="0" i="0" u="none" strike="noStrike" cap="none">
                <a:solidFill>
                  <a:srgbClr val="334155"/>
                </a:solidFill>
                <a:latin typeface="Lato" panose="020F0302020204030203"/>
                <a:ea typeface="宋体" panose="02010600030101010101" pitchFamily="2" charset="-122"/>
                <a:cs typeface="Lato" panose="020F0302020204030203"/>
                <a:sym typeface="Lato" panose="020F0302020204030203"/>
              </a:rPr>
              <a:t>，</a:t>
            </a:r>
            <a:r>
              <a:rPr lang="en-US" sz="1200" b="0" i="0" u="none" strike="noStrike" cap="none">
                <a:solidFill>
                  <a:srgbClr val="334155"/>
                </a:solidFill>
                <a:latin typeface="Lato" panose="020F0302020204030203"/>
                <a:ea typeface="Lato" panose="020F0302020204030203"/>
                <a:cs typeface="Lato" panose="020F0302020204030203"/>
                <a:sym typeface="Lato" panose="020F0302020204030203"/>
              </a:rPr>
              <a:t>输入序列经过预训练模型得到 Transformer 输出       ，再经过线性层与 Softmax 预测概率：</a:t>
            </a:r>
          </a:p>
        </p:txBody>
      </p:sp>
      <p:sp>
        <p:nvSpPr>
          <p:cNvPr id="113" name="Google Shape;113;p13"/>
          <p:cNvSpPr txBox="1"/>
          <p:nvPr/>
        </p:nvSpPr>
        <p:spPr>
          <a:xfrm>
            <a:off x="6439535" y="3126105"/>
            <a:ext cx="2674620" cy="28829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None/>
            </a:pPr>
            <a:r>
              <a:rPr lang="en-US" sz="1200" b="0" i="0" u="none" strike="noStrike" cap="none">
                <a:solidFill>
                  <a:srgbClr val="334155"/>
                </a:solidFill>
                <a:latin typeface="Lato" panose="020F0302020204030203"/>
                <a:ea typeface="Lato" panose="020F0302020204030203"/>
                <a:cs typeface="Lato" panose="020F0302020204030203"/>
                <a:sym typeface="Lato" panose="020F0302020204030203"/>
              </a:rPr>
              <a:t>微调阶段目标为最大化以下似然函数：</a:t>
            </a:r>
          </a:p>
        </p:txBody>
      </p:sp>
      <p:sp>
        <p:nvSpPr>
          <p:cNvPr id="114" name="Google Shape;114;p13"/>
          <p:cNvSpPr txBox="1"/>
          <p:nvPr/>
        </p:nvSpPr>
        <p:spPr>
          <a:xfrm>
            <a:off x="6369050" y="4396144"/>
            <a:ext cx="5150643" cy="352425"/>
          </a:xfrm>
          <a:prstGeom prst="rect">
            <a:avLst/>
          </a:prstGeom>
          <a:noFill/>
          <a:ln>
            <a:noFill/>
          </a:ln>
        </p:spPr>
        <p:txBody>
          <a:bodyPr spcFirstLastPara="1" wrap="square" lIns="361950" tIns="0" rIns="0" bIns="0" anchor="t" anchorCtr="0">
            <a:spAutoFit/>
          </a:bodyPr>
          <a:lstStyle/>
          <a:p>
            <a:pPr marL="0" marR="0" lvl="0" indent="0" algn="l" rtl="0">
              <a:spcBef>
                <a:spcPts val="0"/>
              </a:spcBef>
              <a:spcAft>
                <a:spcPts val="0"/>
              </a:spcAft>
              <a:buNone/>
            </a:pPr>
            <a:r>
              <a:rPr lang="en-US" sz="1800" b="1" i="0" u="none" strike="noStrike" cap="none">
                <a:solidFill>
                  <a:srgbClr val="1E40AF"/>
                </a:solidFill>
                <a:latin typeface="Poppins" panose="00000500000000000000"/>
                <a:ea typeface="Poppins" panose="00000500000000000000"/>
                <a:cs typeface="Poppins" panose="00000500000000000000"/>
                <a:sym typeface="Poppins" panose="00000500000000000000"/>
              </a:rPr>
              <a:t>3. 混合目标函数 (Mixed Objective)</a:t>
            </a:r>
          </a:p>
        </p:txBody>
      </p:sp>
      <p:sp>
        <p:nvSpPr>
          <p:cNvPr id="115" name="Google Shape;115;p13"/>
          <p:cNvSpPr txBox="1"/>
          <p:nvPr/>
        </p:nvSpPr>
        <p:spPr>
          <a:xfrm>
            <a:off x="6416675" y="4748569"/>
            <a:ext cx="490537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334155"/>
                </a:solidFill>
                <a:latin typeface="Lato" panose="020F0302020204030203"/>
                <a:ea typeface="Lato" panose="020F0302020204030203"/>
                <a:cs typeface="Lato" panose="020F0302020204030203"/>
                <a:sym typeface="Lato" panose="020F0302020204030203"/>
              </a:rPr>
              <a:t>引入语言模型辅助目标可以有效提升微调性能并加速收敛：</a:t>
            </a:r>
          </a:p>
        </p:txBody>
      </p:sp>
      <p:pic>
        <p:nvPicPr>
          <p:cNvPr id="116" name="Google Shape;116;p13" descr="image.png"/>
          <p:cNvPicPr preferRelativeResize="0"/>
          <p:nvPr/>
        </p:nvPicPr>
        <p:blipFill rotWithShape="1">
          <a:blip r:embed="rId19"/>
          <a:srcRect/>
          <a:stretch>
            <a:fillRect/>
          </a:stretch>
        </p:blipFill>
        <p:spPr>
          <a:xfrm>
            <a:off x="866775" y="4190632"/>
            <a:ext cx="1328588" cy="205531"/>
          </a:xfrm>
          <a:prstGeom prst="rect">
            <a:avLst/>
          </a:prstGeom>
          <a:noFill/>
          <a:ln>
            <a:noFill/>
          </a:ln>
        </p:spPr>
      </p:pic>
      <p:pic>
        <p:nvPicPr>
          <p:cNvPr id="117" name="Google Shape;117;p13" descr="image.png"/>
          <p:cNvPicPr preferRelativeResize="0"/>
          <p:nvPr/>
        </p:nvPicPr>
        <p:blipFill rotWithShape="1">
          <a:blip r:embed="rId20"/>
          <a:srcRect/>
          <a:stretch>
            <a:fillRect/>
          </a:stretch>
        </p:blipFill>
        <p:spPr>
          <a:xfrm>
            <a:off x="866775" y="4568249"/>
            <a:ext cx="3893194" cy="190500"/>
          </a:xfrm>
          <a:prstGeom prst="rect">
            <a:avLst/>
          </a:prstGeom>
          <a:noFill/>
          <a:ln>
            <a:noFill/>
          </a:ln>
        </p:spPr>
      </p:pic>
      <p:pic>
        <p:nvPicPr>
          <p:cNvPr id="118" name="Google Shape;118;p13" descr="image.png"/>
          <p:cNvPicPr preferRelativeResize="0"/>
          <p:nvPr/>
        </p:nvPicPr>
        <p:blipFill rotWithShape="1">
          <a:blip r:embed="rId21"/>
          <a:srcRect/>
          <a:stretch>
            <a:fillRect/>
          </a:stretch>
        </p:blipFill>
        <p:spPr>
          <a:xfrm>
            <a:off x="866775" y="4967456"/>
            <a:ext cx="2206525" cy="232618"/>
          </a:xfrm>
          <a:prstGeom prst="rect">
            <a:avLst/>
          </a:prstGeom>
          <a:noFill/>
          <a:ln>
            <a:noFill/>
          </a:ln>
        </p:spPr>
      </p:pic>
      <p:pic>
        <p:nvPicPr>
          <p:cNvPr id="119" name="Google Shape;119;p13" descr="image.png"/>
          <p:cNvPicPr preferRelativeResize="0"/>
          <p:nvPr/>
        </p:nvPicPr>
        <p:blipFill rotWithShape="1">
          <a:blip r:embed="rId22"/>
          <a:srcRect/>
          <a:stretch>
            <a:fillRect/>
          </a:stretch>
        </p:blipFill>
        <p:spPr>
          <a:xfrm>
            <a:off x="681355" y="5395019"/>
            <a:ext cx="1539775" cy="149274"/>
          </a:xfrm>
          <a:prstGeom prst="rect">
            <a:avLst/>
          </a:prstGeom>
          <a:noFill/>
          <a:ln>
            <a:noFill/>
          </a:ln>
        </p:spPr>
      </p:pic>
      <p:pic>
        <p:nvPicPr>
          <p:cNvPr id="120" name="Google Shape;120;p13" descr="image.png"/>
          <p:cNvPicPr preferRelativeResize="0"/>
          <p:nvPr/>
        </p:nvPicPr>
        <p:blipFill rotWithShape="1">
          <a:blip r:embed="rId23"/>
          <a:srcRect/>
          <a:stretch>
            <a:fillRect/>
          </a:stretch>
        </p:blipFill>
        <p:spPr>
          <a:xfrm>
            <a:off x="681355" y="5673090"/>
            <a:ext cx="220563" cy="139749"/>
          </a:xfrm>
          <a:prstGeom prst="rect">
            <a:avLst/>
          </a:prstGeom>
          <a:noFill/>
          <a:ln>
            <a:noFill/>
          </a:ln>
        </p:spPr>
      </p:pic>
      <p:pic>
        <p:nvPicPr>
          <p:cNvPr id="121" name="Google Shape;121;p13" descr="image.png"/>
          <p:cNvPicPr preferRelativeResize="0"/>
          <p:nvPr/>
        </p:nvPicPr>
        <p:blipFill rotWithShape="1">
          <a:blip r:embed="rId24"/>
          <a:srcRect/>
          <a:stretch>
            <a:fillRect/>
          </a:stretch>
        </p:blipFill>
        <p:spPr>
          <a:xfrm>
            <a:off x="666968" y="5895340"/>
            <a:ext cx="226665" cy="158799"/>
          </a:xfrm>
          <a:prstGeom prst="rect">
            <a:avLst/>
          </a:prstGeom>
          <a:noFill/>
          <a:ln>
            <a:noFill/>
          </a:ln>
        </p:spPr>
      </p:pic>
      <p:pic>
        <p:nvPicPr>
          <p:cNvPr id="122" name="Google Shape;122;p13" descr="image.png"/>
          <p:cNvPicPr preferRelativeResize="0"/>
          <p:nvPr/>
        </p:nvPicPr>
        <p:blipFill rotWithShape="1">
          <a:blip r:embed="rId25"/>
          <a:srcRect/>
          <a:stretch>
            <a:fillRect/>
          </a:stretch>
        </p:blipFill>
        <p:spPr>
          <a:xfrm>
            <a:off x="6369050" y="1704975"/>
            <a:ext cx="228600" cy="228600"/>
          </a:xfrm>
          <a:prstGeom prst="rect">
            <a:avLst/>
          </a:prstGeom>
          <a:noFill/>
          <a:ln>
            <a:noFill/>
          </a:ln>
        </p:spPr>
      </p:pic>
      <p:pic>
        <p:nvPicPr>
          <p:cNvPr id="123" name="Google Shape;123;p13" descr="image.png"/>
          <p:cNvPicPr preferRelativeResize="0"/>
          <p:nvPr/>
        </p:nvPicPr>
        <p:blipFill rotWithShape="1">
          <a:blip r:embed="rId26"/>
          <a:srcRect/>
          <a:stretch>
            <a:fillRect/>
          </a:stretch>
        </p:blipFill>
        <p:spPr>
          <a:xfrm>
            <a:off x="7670800" y="2171700"/>
            <a:ext cx="101649" cy="104775"/>
          </a:xfrm>
          <a:prstGeom prst="rect">
            <a:avLst/>
          </a:prstGeom>
          <a:noFill/>
          <a:ln>
            <a:noFill/>
          </a:ln>
        </p:spPr>
      </p:pic>
      <p:pic>
        <p:nvPicPr>
          <p:cNvPr id="124" name="Google Shape;124;p13" descr="image.png"/>
          <p:cNvPicPr preferRelativeResize="0"/>
          <p:nvPr/>
        </p:nvPicPr>
        <p:blipFill rotWithShape="1">
          <a:blip r:embed="rId27"/>
          <a:srcRect/>
          <a:stretch>
            <a:fillRect/>
          </a:stretch>
        </p:blipFill>
        <p:spPr>
          <a:xfrm>
            <a:off x="11132869" y="2171749"/>
            <a:ext cx="189011" cy="161925"/>
          </a:xfrm>
          <a:prstGeom prst="rect">
            <a:avLst/>
          </a:prstGeom>
          <a:noFill/>
          <a:ln>
            <a:noFill/>
          </a:ln>
        </p:spPr>
      </p:pic>
      <p:pic>
        <p:nvPicPr>
          <p:cNvPr id="125" name="Google Shape;125;p13" descr="image.png"/>
          <p:cNvPicPr preferRelativeResize="0"/>
          <p:nvPr/>
        </p:nvPicPr>
        <p:blipFill rotWithShape="1">
          <a:blip r:embed="rId28"/>
          <a:srcRect/>
          <a:stretch>
            <a:fillRect/>
          </a:stretch>
        </p:blipFill>
        <p:spPr>
          <a:xfrm>
            <a:off x="6484620" y="2738120"/>
            <a:ext cx="2984500" cy="271780"/>
          </a:xfrm>
          <a:prstGeom prst="rect">
            <a:avLst/>
          </a:prstGeom>
          <a:noFill/>
          <a:ln>
            <a:noFill/>
          </a:ln>
        </p:spPr>
      </p:pic>
      <p:pic>
        <p:nvPicPr>
          <p:cNvPr id="126" name="Google Shape;126;p13" descr="image.png"/>
          <p:cNvPicPr preferRelativeResize="0"/>
          <p:nvPr/>
        </p:nvPicPr>
        <p:blipFill rotWithShape="1">
          <a:blip r:embed="rId29"/>
          <a:srcRect/>
          <a:stretch>
            <a:fillRect/>
          </a:stretch>
        </p:blipFill>
        <p:spPr>
          <a:xfrm>
            <a:off x="6532245" y="3568700"/>
            <a:ext cx="2936875" cy="271145"/>
          </a:xfrm>
          <a:prstGeom prst="rect">
            <a:avLst/>
          </a:prstGeom>
          <a:noFill/>
          <a:ln>
            <a:noFill/>
          </a:ln>
        </p:spPr>
      </p:pic>
      <p:pic>
        <p:nvPicPr>
          <p:cNvPr id="127" name="Google Shape;127;p13" descr="image.png"/>
          <p:cNvPicPr preferRelativeResize="0"/>
          <p:nvPr/>
        </p:nvPicPr>
        <p:blipFill rotWithShape="1">
          <a:blip r:embed="rId30"/>
          <a:srcRect/>
          <a:stretch>
            <a:fillRect/>
          </a:stretch>
        </p:blipFill>
        <p:spPr>
          <a:xfrm>
            <a:off x="6369050" y="4396144"/>
            <a:ext cx="285750" cy="228600"/>
          </a:xfrm>
          <a:prstGeom prst="rect">
            <a:avLst/>
          </a:prstGeom>
          <a:noFill/>
          <a:ln>
            <a:noFill/>
          </a:ln>
        </p:spPr>
      </p:pic>
      <p:pic>
        <p:nvPicPr>
          <p:cNvPr id="128" name="Google Shape;128;p13" descr="image.png"/>
          <p:cNvPicPr preferRelativeResize="0"/>
          <p:nvPr/>
        </p:nvPicPr>
        <p:blipFill rotWithShape="1">
          <a:blip r:embed="rId31"/>
          <a:srcRect/>
          <a:stretch>
            <a:fillRect/>
          </a:stretch>
        </p:blipFill>
        <p:spPr>
          <a:xfrm>
            <a:off x="6484620" y="5203825"/>
            <a:ext cx="2629535" cy="191135"/>
          </a:xfrm>
          <a:prstGeom prst="rect">
            <a:avLst/>
          </a:prstGeom>
          <a:noFill/>
          <a:ln>
            <a:noFill/>
          </a:ln>
        </p:spPr>
      </p:pic>
      <p:sp>
        <p:nvSpPr>
          <p:cNvPr id="129" name="Google Shape;129;p13"/>
          <p:cNvSpPr txBox="1"/>
          <p:nvPr/>
        </p:nvSpPr>
        <p:spPr>
          <a:xfrm>
            <a:off x="6416675" y="5673090"/>
            <a:ext cx="4390390" cy="554990"/>
          </a:xfrm>
          <a:prstGeom prst="rect">
            <a:avLst/>
          </a:prstGeom>
          <a:noFill/>
          <a:ln>
            <a:noFill/>
          </a:ln>
        </p:spPr>
        <p:txBody>
          <a:bodyPr spcFirstLastPara="1" wrap="square" lIns="19050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1E3A8A"/>
                </a:solidFill>
                <a:latin typeface="Lato" panose="020F0302020204030203"/>
                <a:ea typeface="Lato" panose="020F0302020204030203"/>
                <a:cs typeface="Lato" panose="020F0302020204030203"/>
                <a:sym typeface="Lato" panose="020F0302020204030203"/>
              </a:rPr>
              <a:t>学术注记：</a:t>
            </a:r>
            <a:r>
              <a:rPr lang="en-US" sz="1125" b="0" i="0" u="none" strike="noStrike" cap="none">
                <a:solidFill>
                  <a:srgbClr val="1E40AF"/>
                </a:solidFill>
                <a:latin typeface="Lato" panose="020F0302020204030203"/>
                <a:ea typeface="Lato" panose="020F0302020204030203"/>
                <a:cs typeface="Lato" panose="020F0302020204030203"/>
                <a:sym typeface="Lato" panose="020F0302020204030203"/>
              </a:rPr>
              <a:t> λ是微调时增加的线性层权值参数。分类任务与语言模型任务共享预训练参数，在同一框架下联合优化。</a:t>
            </a:r>
          </a:p>
        </p:txBody>
      </p:sp>
      <p:pic>
        <p:nvPicPr>
          <p:cNvPr id="130" name="Google Shape;130;p13" descr="image.png"/>
          <p:cNvPicPr preferRelativeResize="0"/>
          <p:nvPr/>
        </p:nvPicPr>
        <p:blipFill rotWithShape="1">
          <a:blip r:embed="rId32"/>
          <a:srcRect/>
          <a:stretch>
            <a:fillRect/>
          </a:stretch>
        </p:blipFill>
        <p:spPr>
          <a:xfrm>
            <a:off x="6724650" y="7482631"/>
            <a:ext cx="142875" cy="142875"/>
          </a:xfrm>
          <a:prstGeom prst="rect">
            <a:avLst/>
          </a:prstGeom>
          <a:noFill/>
          <a:ln>
            <a:noFill/>
          </a:ln>
        </p:spPr>
      </p:pic>
      <p:pic>
        <p:nvPicPr>
          <p:cNvPr id="131" name="Google Shape;131;p13" descr="image.png"/>
          <p:cNvPicPr preferRelativeResize="0"/>
          <p:nvPr/>
        </p:nvPicPr>
        <p:blipFill rotWithShape="1">
          <a:blip r:embed="rId33"/>
          <a:srcRect/>
          <a:stretch>
            <a:fillRect/>
          </a:stretch>
        </p:blipFill>
        <p:spPr>
          <a:xfrm>
            <a:off x="7686675" y="7511206"/>
            <a:ext cx="214312" cy="147042"/>
          </a:xfrm>
          <a:prstGeom prst="rect">
            <a:avLst/>
          </a:prstGeom>
          <a:noFill/>
          <a:ln>
            <a:noFill/>
          </a:ln>
        </p:spPr>
      </p:pic>
      <p:sp>
        <p:nvSpPr>
          <p:cNvPr id="2" name="Google Shape;211;p21">
            <a:extLst>
              <a:ext uri="{FF2B5EF4-FFF2-40B4-BE49-F238E27FC236}">
                <a16:creationId xmlns:a16="http://schemas.microsoft.com/office/drawing/2014/main" id="{8E90CDA9-2425-F548-D790-A8991AEED6CB}"/>
              </a:ext>
            </a:extLst>
          </p:cNvPr>
          <p:cNvSpPr/>
          <p:nvPr/>
        </p:nvSpPr>
        <p:spPr>
          <a:xfrm>
            <a:off x="336550" y="463550"/>
            <a:ext cx="66357" cy="299637"/>
          </a:xfrm>
          <a:prstGeom prst="rect">
            <a:avLst/>
          </a:prstGeom>
          <a:solidFill>
            <a:srgbClr val="1A73E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oogle Shape;169;p18">
            <a:extLst>
              <a:ext uri="{FF2B5EF4-FFF2-40B4-BE49-F238E27FC236}">
                <a16:creationId xmlns:a16="http://schemas.microsoft.com/office/drawing/2014/main" id="{FF00F008-1D11-8109-0D8B-507E692F4292}"/>
              </a:ext>
            </a:extLst>
          </p:cNvPr>
          <p:cNvPicPr preferRelativeResize="0"/>
          <p:nvPr/>
        </p:nvPicPr>
        <p:blipFill rotWithShape="1">
          <a:blip r:embed="rId3">
            <a:alphaModFix/>
          </a:blip>
          <a:srcRect/>
          <a:stretch/>
        </p:blipFill>
        <p:spPr>
          <a:xfrm>
            <a:off x="5474970" y="747166"/>
            <a:ext cx="6614795" cy="1894434"/>
          </a:xfrm>
          <a:prstGeom prst="rect">
            <a:avLst/>
          </a:prstGeom>
          <a:noFill/>
          <a:ln>
            <a:noFill/>
          </a:ln>
        </p:spPr>
      </p:pic>
      <p:pic>
        <p:nvPicPr>
          <p:cNvPr id="5" name="Google Shape;169;p18">
            <a:extLst>
              <a:ext uri="{FF2B5EF4-FFF2-40B4-BE49-F238E27FC236}">
                <a16:creationId xmlns:a16="http://schemas.microsoft.com/office/drawing/2014/main" id="{C7A92AFF-4B51-1FCB-9F42-E2E4B5B76F42}"/>
              </a:ext>
            </a:extLst>
          </p:cNvPr>
          <p:cNvPicPr preferRelativeResize="0"/>
          <p:nvPr/>
        </p:nvPicPr>
        <p:blipFill rotWithShape="1">
          <a:blip r:embed="rId3">
            <a:alphaModFix/>
          </a:blip>
          <a:srcRect/>
          <a:stretch/>
        </p:blipFill>
        <p:spPr>
          <a:xfrm>
            <a:off x="574357" y="2701518"/>
            <a:ext cx="4848543" cy="3908831"/>
          </a:xfrm>
          <a:prstGeom prst="rect">
            <a:avLst/>
          </a:prstGeom>
          <a:noFill/>
          <a:ln>
            <a:noFill/>
          </a:ln>
        </p:spPr>
      </p:pic>
      <p:pic>
        <p:nvPicPr>
          <p:cNvPr id="3" name="Google Shape;169;p18">
            <a:extLst>
              <a:ext uri="{FF2B5EF4-FFF2-40B4-BE49-F238E27FC236}">
                <a16:creationId xmlns:a16="http://schemas.microsoft.com/office/drawing/2014/main" id="{91F736FF-1CC4-43A5-54A4-5487AC4777E5}"/>
              </a:ext>
            </a:extLst>
          </p:cNvPr>
          <p:cNvPicPr preferRelativeResize="0"/>
          <p:nvPr/>
        </p:nvPicPr>
        <p:blipFill rotWithShape="1">
          <a:blip r:embed="rId3">
            <a:alphaModFix/>
          </a:blip>
          <a:srcRect/>
          <a:stretch/>
        </p:blipFill>
        <p:spPr>
          <a:xfrm>
            <a:off x="574357" y="747166"/>
            <a:ext cx="4848543" cy="1894434"/>
          </a:xfrm>
          <a:prstGeom prst="rect">
            <a:avLst/>
          </a:prstGeom>
          <a:noFill/>
          <a:ln>
            <a:noFill/>
          </a:ln>
        </p:spPr>
      </p:pic>
      <p:sp>
        <p:nvSpPr>
          <p:cNvPr id="2" name="文本框 1"/>
          <p:cNvSpPr txBox="1"/>
          <p:nvPr/>
        </p:nvSpPr>
        <p:spPr>
          <a:xfrm>
            <a:off x="734695" y="430530"/>
            <a:ext cx="4226560" cy="7077710"/>
          </a:xfrm>
          <a:prstGeom prst="rect">
            <a:avLst/>
          </a:prstGeom>
          <a:noFill/>
        </p:spPr>
        <p:txBody>
          <a:bodyPr wrap="square" rtlCol="0">
            <a:spAutoFit/>
          </a:bodyPr>
          <a:lstStyle/>
          <a:p>
            <a:endParaRPr lang="en-US" altLang="zh-CN" dirty="0"/>
          </a:p>
          <a:p>
            <a:endParaRPr lang="zh-CN" altLang="en-US" dirty="0"/>
          </a:p>
          <a:p>
            <a:r>
              <a:rPr lang="zh-CN" altLang="en-US" dirty="0">
                <a:latin typeface="Calibri" panose="020F0502020204030204" charset="0"/>
              </a:rPr>
              <a:t>①嵌入层</a:t>
            </a:r>
          </a:p>
          <a:p>
            <a:r>
              <a:rPr lang="zh-CN" altLang="en-US" dirty="0">
                <a:latin typeface="Calibri" panose="020F0502020204030204" charset="0"/>
              </a:rPr>
              <a:t>（</a:t>
            </a:r>
            <a:r>
              <a:rPr lang="en-US" altLang="zh-CN" dirty="0">
                <a:latin typeface="Calibri" panose="020F0502020204030204" charset="0"/>
              </a:rPr>
              <a:t>1</a:t>
            </a:r>
            <a:r>
              <a:rPr lang="zh-CN" altLang="en-US" dirty="0">
                <a:latin typeface="Calibri" panose="020F0502020204030204" charset="0"/>
              </a:rPr>
              <a:t>）词嵌入层</a:t>
            </a:r>
            <a:r>
              <a:rPr lang="zh-CN" altLang="en-US" dirty="0">
                <a:latin typeface="Arial" panose="020B0604020202020204" pitchFamily="34" charset="0"/>
                <a:cs typeface="Arial" panose="020B0604020202020204" pitchFamily="34" charset="0"/>
              </a:rPr>
              <a:t>W</a:t>
            </a:r>
            <a:r>
              <a:rPr lang="en-US" altLang="zh-CN" baseline="-25000" dirty="0">
                <a:latin typeface="Arial" panose="020B0604020202020204" pitchFamily="34" charset="0"/>
                <a:cs typeface="Arial" panose="020B0604020202020204" pitchFamily="34" charset="0"/>
              </a:rPr>
              <a:t>e</a:t>
            </a:r>
          </a:p>
          <a:p>
            <a:r>
              <a:rPr lang="zh-CN" altLang="en-US" dirty="0">
                <a:latin typeface="Arial" panose="020B0604020202020204" pitchFamily="34" charset="0"/>
                <a:cs typeface="Arial" panose="020B0604020202020204" pitchFamily="34" charset="0"/>
              </a:rPr>
              <a:t>形状：</a:t>
            </a:r>
            <a:r>
              <a:rPr lang="en-US" altLang="zh-CN" dirty="0">
                <a:latin typeface="Arial" panose="020B0604020202020204" pitchFamily="34" charset="0"/>
                <a:cs typeface="Arial" panose="020B0604020202020204" pitchFamily="34" charset="0"/>
              </a:rPr>
              <a:t>V</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d=40000</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768=30720000</a:t>
            </a:r>
          </a:p>
          <a:p>
            <a:r>
              <a:rPr lang="zh-CN" altLang="en-US" dirty="0">
                <a:latin typeface="Arial" panose="020B0604020202020204" pitchFamily="34" charset="0"/>
                <a:ea typeface="宋体" panose="02010600030101010101" pitchFamily="2" charset="-122"/>
                <a:cs typeface="Arial" panose="020B0604020202020204" pitchFamily="34" charset="0"/>
              </a:rPr>
              <a:t>（</a:t>
            </a:r>
            <a:r>
              <a:rPr lang="en-US" altLang="zh-CN" dirty="0">
                <a:latin typeface="Arial" panose="020B0604020202020204" pitchFamily="34" charset="0"/>
                <a:ea typeface="宋体" panose="02010600030101010101" pitchFamily="2" charset="-122"/>
                <a:cs typeface="Arial" panose="020B0604020202020204" pitchFamily="34" charset="0"/>
              </a:rPr>
              <a:t>2</a:t>
            </a:r>
            <a:r>
              <a:rPr lang="zh-CN" altLang="en-US" dirty="0">
                <a:latin typeface="Arial" panose="020B0604020202020204" pitchFamily="34" charset="0"/>
                <a:ea typeface="宋体" panose="02010600030101010101" pitchFamily="2" charset="-122"/>
                <a:cs typeface="Arial" panose="020B0604020202020204" pitchFamily="34" charset="0"/>
              </a:rPr>
              <a:t>）可学习位置嵌入矩阵</a:t>
            </a:r>
          </a:p>
          <a:p>
            <a:r>
              <a:rPr lang="zh-CN" altLang="en-US" dirty="0">
                <a:latin typeface="Arial" panose="020B0604020202020204" pitchFamily="34" charset="0"/>
                <a:ea typeface="宋体" panose="02010600030101010101" pitchFamily="2" charset="-122"/>
                <a:cs typeface="Arial" panose="020B0604020202020204" pitchFamily="34" charset="0"/>
              </a:rPr>
              <a:t>最大长度为</a:t>
            </a:r>
            <a:r>
              <a:rPr lang="en-US" altLang="zh-CN" dirty="0">
                <a:latin typeface="Arial" panose="020B0604020202020204" pitchFamily="34" charset="0"/>
                <a:ea typeface="宋体" panose="02010600030101010101" pitchFamily="2" charset="-122"/>
                <a:cs typeface="Arial" panose="020B0604020202020204" pitchFamily="34" charset="0"/>
              </a:rPr>
              <a:t>512</a:t>
            </a:r>
            <a:r>
              <a:rPr lang="zh-CN" altLang="en-US" dirty="0">
                <a:latin typeface="Arial" panose="020B0604020202020204" pitchFamily="34" charset="0"/>
                <a:ea typeface="宋体" panose="02010600030101010101" pitchFamily="2" charset="-122"/>
                <a:cs typeface="Arial" panose="020B0604020202020204" pitchFamily="34" charset="0"/>
              </a:rPr>
              <a:t>，若按</a:t>
            </a:r>
            <a:r>
              <a:rPr lang="en-US" altLang="zh-CN" dirty="0">
                <a:latin typeface="Arial" panose="020B0604020202020204" pitchFamily="34" charset="0"/>
                <a:ea typeface="宋体" panose="02010600030101010101" pitchFamily="2" charset="-122"/>
                <a:cs typeface="Arial" panose="020B0604020202020204" pitchFamily="34" charset="0"/>
              </a:rPr>
              <a:t>k=512</a:t>
            </a:r>
            <a:r>
              <a:rPr lang="zh-CN" altLang="en-US" dirty="0">
                <a:latin typeface="Arial" panose="020B0604020202020204" pitchFamily="34" charset="0"/>
                <a:ea typeface="宋体" panose="02010600030101010101" pitchFamily="2" charset="-122"/>
                <a:cs typeface="Arial" panose="020B0604020202020204" pitchFamily="34" charset="0"/>
              </a:rPr>
              <a:t>计算：</a:t>
            </a:r>
          </a:p>
          <a:p>
            <a:r>
              <a:rPr lang="zh-CN" altLang="en-US" dirty="0">
                <a:latin typeface="Arial" panose="020B0604020202020204" pitchFamily="34" charset="0"/>
                <a:ea typeface="宋体" panose="02010600030101010101" pitchFamily="2" charset="-122"/>
                <a:cs typeface="Arial" panose="020B0604020202020204" pitchFamily="34" charset="0"/>
              </a:rPr>
              <a:t>形状：</a:t>
            </a:r>
            <a:r>
              <a:rPr lang="en-US" altLang="zh-CN" dirty="0">
                <a:latin typeface="Arial" panose="020B0604020202020204" pitchFamily="34" charset="0"/>
                <a:ea typeface="宋体" panose="02010600030101010101" pitchFamily="2" charset="-122"/>
                <a:cs typeface="Arial" panose="020B0604020202020204" pitchFamily="34" charset="0"/>
              </a:rPr>
              <a:t>512</a:t>
            </a:r>
            <a:r>
              <a:rPr lang="zh-CN" altLang="en-US" dirty="0">
                <a:latin typeface="Arial" panose="020B0604020202020204" pitchFamily="34" charset="0"/>
                <a:ea typeface="宋体" panose="02010600030101010101" pitchFamily="2" charset="-122"/>
                <a:cs typeface="Arial" panose="020B0604020202020204" pitchFamily="34" charset="0"/>
              </a:rPr>
              <a:t>×</a:t>
            </a:r>
            <a:r>
              <a:rPr lang="en-US" altLang="zh-CN" dirty="0">
                <a:latin typeface="Arial" panose="020B0604020202020204" pitchFamily="34" charset="0"/>
                <a:ea typeface="宋体" panose="02010600030101010101" pitchFamily="2" charset="-122"/>
                <a:cs typeface="Arial" panose="020B0604020202020204" pitchFamily="34" charset="0"/>
              </a:rPr>
              <a:t>768=393216</a:t>
            </a:r>
          </a:p>
          <a:p>
            <a:endParaRPr lang="en-US" altLang="zh-CN" dirty="0">
              <a:latin typeface="Arial" panose="020B0604020202020204" pitchFamily="34" charset="0"/>
              <a:ea typeface="宋体" panose="02010600030101010101" pitchFamily="2" charset="-122"/>
              <a:cs typeface="Arial" panose="020B0604020202020204" pitchFamily="34" charset="0"/>
            </a:endParaRPr>
          </a:p>
          <a:p>
            <a:r>
              <a:rPr lang="zh-CN" altLang="en-US" dirty="0">
                <a:latin typeface="Arial" panose="020B0604020202020204" pitchFamily="34" charset="0"/>
                <a:ea typeface="宋体" panose="02010600030101010101" pitchFamily="2" charset="-122"/>
                <a:cs typeface="Arial" panose="020B0604020202020204" pitchFamily="34" charset="0"/>
              </a:rPr>
              <a:t>嵌入层合计：</a:t>
            </a:r>
            <a:r>
              <a:rPr lang="en-US" altLang="zh-CN" dirty="0">
                <a:latin typeface="Arial" panose="020B0604020202020204" pitchFamily="34" charset="0"/>
                <a:ea typeface="宋体" panose="02010600030101010101" pitchFamily="2" charset="-122"/>
                <a:cs typeface="Arial" panose="020B0604020202020204" pitchFamily="34" charset="0"/>
              </a:rPr>
              <a:t>30720000+393216=31113216</a:t>
            </a:r>
          </a:p>
          <a:p>
            <a:endParaRPr lang="en-US" altLang="zh-CN" dirty="0">
              <a:latin typeface="Arial" panose="020B0604020202020204" pitchFamily="34" charset="0"/>
              <a:ea typeface="宋体" panose="02010600030101010101" pitchFamily="2" charset="-122"/>
              <a:cs typeface="Arial" panose="020B0604020202020204" pitchFamily="34" charset="0"/>
            </a:endParaRPr>
          </a:p>
          <a:p>
            <a:r>
              <a:rPr lang="en-US" altLang="zh-CN" dirty="0">
                <a:latin typeface="Calibri" panose="020F0502020204030204" charset="0"/>
                <a:ea typeface="宋体" panose="02010600030101010101" pitchFamily="2" charset="-122"/>
                <a:cs typeface="Arial" panose="020B0604020202020204" pitchFamily="34" charset="0"/>
              </a:rPr>
              <a:t>②</a:t>
            </a:r>
            <a:r>
              <a:rPr lang="zh-CN" altLang="en-US" dirty="0">
                <a:latin typeface="Calibri" panose="020F0502020204030204" charset="0"/>
                <a:ea typeface="宋体" panose="02010600030101010101" pitchFamily="2" charset="-122"/>
                <a:cs typeface="Arial" panose="020B0604020202020204" pitchFamily="34" charset="0"/>
              </a:rPr>
              <a:t>单层</a:t>
            </a:r>
            <a:r>
              <a:rPr lang="en-US" altLang="zh-CN" dirty="0">
                <a:latin typeface="Calibri" panose="020F0502020204030204" charset="0"/>
                <a:ea typeface="宋体" panose="02010600030101010101" pitchFamily="2" charset="-122"/>
                <a:cs typeface="Arial" panose="020B0604020202020204" pitchFamily="34" charset="0"/>
              </a:rPr>
              <a:t>Decoder</a:t>
            </a:r>
            <a:r>
              <a:rPr lang="zh-CN" altLang="en-US" dirty="0">
                <a:latin typeface="Calibri" panose="020F0502020204030204" charset="0"/>
                <a:ea typeface="宋体" panose="02010600030101010101" pitchFamily="2" charset="-122"/>
                <a:cs typeface="Arial" panose="020B0604020202020204" pitchFamily="34" charset="0"/>
              </a:rPr>
              <a:t>参数</a:t>
            </a:r>
          </a:p>
          <a:p>
            <a:r>
              <a:rPr lang="zh-CN" altLang="en-US" dirty="0">
                <a:latin typeface="Calibri" panose="020F0502020204030204" charset="0"/>
                <a:ea typeface="宋体" panose="02010600030101010101" pitchFamily="2" charset="-122"/>
                <a:cs typeface="Arial" panose="020B0604020202020204" pitchFamily="34" charset="0"/>
              </a:rPr>
              <a:t>（</a:t>
            </a:r>
            <a:r>
              <a:rPr lang="en-US" altLang="zh-CN" dirty="0">
                <a:latin typeface="Calibri" panose="020F0502020204030204" charset="0"/>
                <a:ea typeface="宋体" panose="02010600030101010101" pitchFamily="2" charset="-122"/>
                <a:cs typeface="Arial" panose="020B0604020202020204" pitchFamily="34" charset="0"/>
              </a:rPr>
              <a:t>1</a:t>
            </a:r>
            <a:r>
              <a:rPr lang="zh-CN" altLang="en-US" dirty="0">
                <a:latin typeface="Calibri" panose="020F0502020204030204" charset="0"/>
                <a:ea typeface="宋体" panose="02010600030101010101" pitchFamily="2" charset="-122"/>
                <a:cs typeface="Arial" panose="020B0604020202020204" pitchFamily="34" charset="0"/>
              </a:rPr>
              <a:t>）多头自注意力机制（</a:t>
            </a:r>
            <a:r>
              <a:rPr lang="en-US" altLang="zh-CN" dirty="0">
                <a:latin typeface="Calibri" panose="020F0502020204030204" charset="0"/>
                <a:ea typeface="宋体" panose="02010600030101010101" pitchFamily="2" charset="-122"/>
                <a:cs typeface="Arial" panose="020B0604020202020204" pitchFamily="34" charset="0"/>
              </a:rPr>
              <a:t>MHA</a:t>
            </a:r>
            <a:r>
              <a:rPr lang="zh-CN" altLang="en-US" dirty="0">
                <a:latin typeface="Calibri" panose="020F0502020204030204" charset="0"/>
                <a:ea typeface="宋体" panose="02010600030101010101" pitchFamily="2" charset="-122"/>
                <a:cs typeface="Arial" panose="020B0604020202020204" pitchFamily="34" charset="0"/>
              </a:rPr>
              <a:t>）</a:t>
            </a:r>
          </a:p>
          <a:p>
            <a:r>
              <a:rPr lang="en-US" altLang="zh-CN" dirty="0">
                <a:latin typeface="Calibri" panose="020F0502020204030204" charset="0"/>
                <a:ea typeface="宋体" panose="02010600030101010101" pitchFamily="2" charset="-122"/>
                <a:cs typeface="Arial" panose="020B0604020202020204" pitchFamily="34" charset="0"/>
              </a:rPr>
              <a:t>Q</a:t>
            </a:r>
            <a:r>
              <a:rPr lang="zh-CN" altLang="en-US" dirty="0">
                <a:latin typeface="Calibri" panose="020F0502020204030204" charset="0"/>
                <a:ea typeface="宋体" panose="02010600030101010101" pitchFamily="2" charset="-122"/>
                <a:cs typeface="Arial" panose="020B0604020202020204" pitchFamily="34" charset="0"/>
              </a:rPr>
              <a:t>，</a:t>
            </a:r>
            <a:r>
              <a:rPr lang="en-US" altLang="zh-CN" dirty="0">
                <a:latin typeface="Calibri" panose="020F0502020204030204" charset="0"/>
                <a:ea typeface="宋体" panose="02010600030101010101" pitchFamily="2" charset="-122"/>
                <a:cs typeface="Arial" panose="020B0604020202020204" pitchFamily="34" charset="0"/>
              </a:rPr>
              <a:t>K</a:t>
            </a:r>
            <a:r>
              <a:rPr lang="zh-CN" altLang="en-US" dirty="0">
                <a:latin typeface="Calibri" panose="020F0502020204030204" charset="0"/>
                <a:ea typeface="宋体" panose="02010600030101010101" pitchFamily="2" charset="-122"/>
                <a:cs typeface="Arial" panose="020B0604020202020204" pitchFamily="34" charset="0"/>
              </a:rPr>
              <a:t>，</a:t>
            </a:r>
            <a:r>
              <a:rPr lang="en-US" altLang="zh-CN" dirty="0">
                <a:latin typeface="Calibri" panose="020F0502020204030204" charset="0"/>
                <a:ea typeface="宋体" panose="02010600030101010101" pitchFamily="2" charset="-122"/>
                <a:cs typeface="Arial" panose="020B0604020202020204" pitchFamily="34" charset="0"/>
              </a:rPr>
              <a:t>V</a:t>
            </a:r>
            <a:r>
              <a:rPr lang="zh-CN" altLang="en-US" dirty="0">
                <a:latin typeface="Calibri" panose="020F0502020204030204" charset="0"/>
                <a:ea typeface="宋体" panose="02010600030101010101" pitchFamily="2" charset="-122"/>
                <a:cs typeface="Arial" panose="020B0604020202020204" pitchFamily="34" charset="0"/>
              </a:rPr>
              <a:t>矩阵：</a:t>
            </a:r>
            <a:r>
              <a:rPr lang="en-US" altLang="zh-CN" dirty="0">
                <a:latin typeface="Calibri" panose="020F0502020204030204" charset="0"/>
                <a:ea typeface="宋体" panose="02010600030101010101" pitchFamily="2" charset="-122"/>
                <a:cs typeface="Arial" panose="020B0604020202020204" pitchFamily="34" charset="0"/>
              </a:rPr>
              <a:t>3</a:t>
            </a:r>
            <a:r>
              <a:rPr lang="zh-CN" altLang="en-US" dirty="0">
                <a:latin typeface="Calibri" panose="020F0502020204030204" charset="0"/>
                <a:ea typeface="宋体" panose="02010600030101010101" pitchFamily="2" charset="-122"/>
                <a:cs typeface="Arial" panose="020B0604020202020204" pitchFamily="34" charset="0"/>
              </a:rPr>
              <a:t>×（</a:t>
            </a:r>
            <a:r>
              <a:rPr lang="en-US" altLang="zh-CN" dirty="0">
                <a:latin typeface="Calibri" panose="020F0502020204030204" charset="0"/>
                <a:ea typeface="宋体" panose="02010600030101010101" pitchFamily="2" charset="-122"/>
                <a:cs typeface="Arial" panose="020B0604020202020204" pitchFamily="34" charset="0"/>
              </a:rPr>
              <a:t>d</a:t>
            </a:r>
            <a:r>
              <a:rPr lang="zh-CN" altLang="en-US" dirty="0">
                <a:latin typeface="Calibri" panose="020F0502020204030204" charset="0"/>
                <a:ea typeface="宋体" panose="02010600030101010101" pitchFamily="2" charset="-122"/>
                <a:cs typeface="Arial" panose="020B0604020202020204" pitchFamily="34" charset="0"/>
              </a:rPr>
              <a:t>×</a:t>
            </a:r>
            <a:r>
              <a:rPr lang="en-US" altLang="zh-CN" dirty="0" err="1">
                <a:latin typeface="Calibri" panose="020F0502020204030204" charset="0"/>
                <a:ea typeface="宋体" panose="02010600030101010101" pitchFamily="2" charset="-122"/>
                <a:cs typeface="Arial" panose="020B0604020202020204" pitchFamily="34" charset="0"/>
              </a:rPr>
              <a:t>d+d</a:t>
            </a:r>
            <a:r>
              <a:rPr lang="zh-CN" altLang="en-US" dirty="0">
                <a:latin typeface="Calibri" panose="020F0502020204030204" charset="0"/>
                <a:ea typeface="宋体" panose="02010600030101010101" pitchFamily="2" charset="-122"/>
                <a:cs typeface="Arial" panose="020B0604020202020204" pitchFamily="34" charset="0"/>
              </a:rPr>
              <a:t>）</a:t>
            </a:r>
            <a:r>
              <a:rPr lang="en-US" altLang="zh-CN" dirty="0">
                <a:latin typeface="Calibri" panose="020F0502020204030204" charset="0"/>
                <a:ea typeface="宋体" panose="02010600030101010101" pitchFamily="2" charset="-122"/>
                <a:cs typeface="Arial" panose="020B0604020202020204" pitchFamily="34" charset="0"/>
              </a:rPr>
              <a:t>=3</a:t>
            </a:r>
            <a:r>
              <a:rPr lang="zh-CN" altLang="en-US" dirty="0">
                <a:latin typeface="Calibri" panose="020F0502020204030204" charset="0"/>
                <a:ea typeface="宋体" panose="02010600030101010101" pitchFamily="2" charset="-122"/>
                <a:cs typeface="Arial" panose="020B0604020202020204" pitchFamily="34" charset="0"/>
              </a:rPr>
              <a:t>×（</a:t>
            </a:r>
            <a:r>
              <a:rPr lang="en-US" altLang="zh-CN" dirty="0">
                <a:latin typeface="Calibri" panose="020F0502020204030204" charset="0"/>
                <a:ea typeface="宋体" panose="02010600030101010101" pitchFamily="2" charset="-122"/>
                <a:cs typeface="Arial" panose="020B0604020202020204" pitchFamily="34" charset="0"/>
              </a:rPr>
              <a:t>768</a:t>
            </a:r>
            <a:r>
              <a:rPr lang="zh-CN" altLang="en-US" dirty="0">
                <a:latin typeface="Calibri" panose="020F0502020204030204" charset="0"/>
                <a:ea typeface="宋体" panose="02010600030101010101" pitchFamily="2" charset="-122"/>
                <a:cs typeface="Arial" panose="020B0604020202020204" pitchFamily="34" charset="0"/>
              </a:rPr>
              <a:t>×</a:t>
            </a:r>
            <a:r>
              <a:rPr lang="en-US" altLang="zh-CN" dirty="0">
                <a:latin typeface="Calibri" panose="020F0502020204030204" charset="0"/>
                <a:ea typeface="宋体" panose="02010600030101010101" pitchFamily="2" charset="-122"/>
                <a:cs typeface="Arial" panose="020B0604020202020204" pitchFamily="34" charset="0"/>
              </a:rPr>
              <a:t>768+768</a:t>
            </a:r>
            <a:r>
              <a:rPr lang="zh-CN" altLang="en-US" dirty="0">
                <a:latin typeface="Calibri" panose="020F0502020204030204" charset="0"/>
                <a:ea typeface="宋体" panose="02010600030101010101" pitchFamily="2" charset="-122"/>
                <a:cs typeface="Arial" panose="020B0604020202020204" pitchFamily="34" charset="0"/>
              </a:rPr>
              <a:t>）</a:t>
            </a:r>
            <a:r>
              <a:rPr lang="en-US" altLang="zh-CN" dirty="0">
                <a:latin typeface="Calibri" panose="020F0502020204030204" charset="0"/>
                <a:ea typeface="宋体" panose="02010600030101010101" pitchFamily="2" charset="-122"/>
                <a:cs typeface="Arial" panose="020B0604020202020204" pitchFamily="34" charset="0"/>
              </a:rPr>
              <a:t>=2361600</a:t>
            </a:r>
          </a:p>
          <a:p>
            <a:r>
              <a:rPr lang="zh-CN" altLang="en-US" dirty="0">
                <a:latin typeface="Calibri" panose="020F0502020204030204" charset="0"/>
                <a:ea typeface="宋体" panose="02010600030101010101" pitchFamily="2" charset="-122"/>
                <a:cs typeface="Arial" panose="020B0604020202020204" pitchFamily="34" charset="0"/>
              </a:rPr>
              <a:t>输出投影矩阵</a:t>
            </a:r>
            <a:r>
              <a:rPr lang="en-US" altLang="zh-CN" dirty="0">
                <a:latin typeface="Calibri" panose="020F0502020204030204" charset="0"/>
                <a:ea typeface="宋体" panose="02010600030101010101" pitchFamily="2" charset="-122"/>
                <a:cs typeface="Arial" panose="020B0604020202020204" pitchFamily="34" charset="0"/>
              </a:rPr>
              <a:t>W</a:t>
            </a:r>
            <a:r>
              <a:rPr lang="en-US" altLang="zh-CN" sz="1600" baseline="-25000" dirty="0">
                <a:latin typeface="Calibri" panose="020F0502020204030204" charset="0"/>
                <a:ea typeface="宋体" panose="02010600030101010101" pitchFamily="2" charset="-122"/>
                <a:cs typeface="Arial" panose="020B0604020202020204" pitchFamily="34" charset="0"/>
              </a:rPr>
              <a:t>o</a:t>
            </a:r>
            <a:r>
              <a:rPr lang="zh-CN" altLang="en-US" dirty="0">
                <a:latin typeface="Calibri" panose="020F0502020204030204" charset="0"/>
                <a:ea typeface="宋体" panose="02010600030101010101" pitchFamily="2" charset="-122"/>
                <a:cs typeface="Arial" panose="020B0604020202020204" pitchFamily="34" charset="0"/>
              </a:rPr>
              <a:t>：</a:t>
            </a:r>
            <a:r>
              <a:rPr lang="en-US" altLang="zh-CN" dirty="0">
                <a:latin typeface="Calibri" panose="020F0502020204030204" charset="0"/>
                <a:ea typeface="宋体" panose="02010600030101010101" pitchFamily="2" charset="-122"/>
                <a:cs typeface="Arial" panose="020B0604020202020204" pitchFamily="34" charset="0"/>
              </a:rPr>
              <a:t>d</a:t>
            </a:r>
            <a:r>
              <a:rPr lang="zh-CN" altLang="en-US" dirty="0">
                <a:latin typeface="Calibri" panose="020F0502020204030204" charset="0"/>
                <a:ea typeface="宋体" panose="02010600030101010101" pitchFamily="2" charset="-122"/>
                <a:cs typeface="Arial" panose="020B0604020202020204" pitchFamily="34" charset="0"/>
              </a:rPr>
              <a:t>×</a:t>
            </a:r>
            <a:r>
              <a:rPr lang="en-US" altLang="zh-CN" dirty="0" err="1">
                <a:latin typeface="Calibri" panose="020F0502020204030204" charset="0"/>
                <a:ea typeface="宋体" panose="02010600030101010101" pitchFamily="2" charset="-122"/>
                <a:cs typeface="Arial" panose="020B0604020202020204" pitchFamily="34" charset="0"/>
              </a:rPr>
              <a:t>d+d</a:t>
            </a:r>
            <a:r>
              <a:rPr lang="en-US" altLang="zh-CN" dirty="0">
                <a:latin typeface="Calibri" panose="020F0502020204030204" charset="0"/>
                <a:ea typeface="宋体" panose="02010600030101010101" pitchFamily="2" charset="-122"/>
                <a:cs typeface="Arial" panose="020B0604020202020204" pitchFamily="34" charset="0"/>
              </a:rPr>
              <a:t>=768</a:t>
            </a:r>
            <a:r>
              <a:rPr lang="zh-CN" altLang="en-US" dirty="0">
                <a:latin typeface="Calibri" panose="020F0502020204030204" charset="0"/>
                <a:ea typeface="宋体" panose="02010600030101010101" pitchFamily="2" charset="-122"/>
                <a:cs typeface="Arial" panose="020B0604020202020204" pitchFamily="34" charset="0"/>
              </a:rPr>
              <a:t>×</a:t>
            </a:r>
            <a:r>
              <a:rPr lang="en-US" altLang="zh-CN" dirty="0">
                <a:latin typeface="Calibri" panose="020F0502020204030204" charset="0"/>
                <a:ea typeface="宋体" panose="02010600030101010101" pitchFamily="2" charset="-122"/>
                <a:cs typeface="Arial" panose="020B0604020202020204" pitchFamily="34" charset="0"/>
              </a:rPr>
              <a:t>768+768=2362368</a:t>
            </a:r>
          </a:p>
          <a:p>
            <a:r>
              <a:rPr lang="zh-CN" altLang="en-US" dirty="0">
                <a:latin typeface="Calibri" panose="020F0502020204030204" charset="0"/>
                <a:ea typeface="宋体" panose="02010600030101010101" pitchFamily="2" charset="-122"/>
                <a:cs typeface="Arial" panose="020B0604020202020204" pitchFamily="34" charset="0"/>
              </a:rPr>
              <a:t>（</a:t>
            </a:r>
            <a:r>
              <a:rPr lang="en-US" altLang="zh-CN" dirty="0">
                <a:latin typeface="Calibri" panose="020F0502020204030204" charset="0"/>
                <a:ea typeface="宋体" panose="02010600030101010101" pitchFamily="2" charset="-122"/>
                <a:cs typeface="Arial" panose="020B0604020202020204" pitchFamily="34" charset="0"/>
              </a:rPr>
              <a:t>2</a:t>
            </a:r>
            <a:r>
              <a:rPr lang="zh-CN" altLang="en-US" dirty="0">
                <a:latin typeface="Calibri" panose="020F0502020204030204" charset="0"/>
                <a:ea typeface="宋体" panose="02010600030101010101" pitchFamily="2" charset="-122"/>
                <a:cs typeface="Arial" panose="020B0604020202020204" pitchFamily="34" charset="0"/>
              </a:rPr>
              <a:t>）前馈神经网络（</a:t>
            </a:r>
            <a:r>
              <a:rPr lang="en-US" altLang="zh-CN" dirty="0">
                <a:latin typeface="Calibri" panose="020F0502020204030204" charset="0"/>
                <a:ea typeface="宋体" panose="02010600030101010101" pitchFamily="2" charset="-122"/>
                <a:cs typeface="Arial" panose="020B0604020202020204" pitchFamily="34" charset="0"/>
              </a:rPr>
              <a:t>FFN</a:t>
            </a:r>
            <a:r>
              <a:rPr lang="zh-CN" altLang="en-US" dirty="0">
                <a:latin typeface="Calibri" panose="020F0502020204030204" charset="0"/>
                <a:ea typeface="宋体" panose="02010600030101010101" pitchFamily="2" charset="-122"/>
                <a:cs typeface="Arial" panose="020B0604020202020204" pitchFamily="34" charset="0"/>
              </a:rPr>
              <a:t>）</a:t>
            </a:r>
          </a:p>
          <a:p>
            <a:r>
              <a:rPr lang="zh-CN" altLang="en-US" dirty="0">
                <a:latin typeface="Calibri" panose="020F0502020204030204" charset="0"/>
                <a:ea typeface="宋体" panose="02010600030101010101" pitchFamily="2" charset="-122"/>
                <a:cs typeface="Arial" panose="020B0604020202020204" pitchFamily="34" charset="0"/>
              </a:rPr>
              <a:t>升维：</a:t>
            </a:r>
            <a:r>
              <a:rPr lang="en-US" altLang="zh-CN" dirty="0">
                <a:latin typeface="Calibri" panose="020F0502020204030204" charset="0"/>
                <a:ea typeface="宋体" panose="02010600030101010101" pitchFamily="2" charset="-122"/>
                <a:cs typeface="Arial" panose="020B0604020202020204" pitchFamily="34" charset="0"/>
              </a:rPr>
              <a:t>768</a:t>
            </a:r>
            <a:r>
              <a:rPr lang="zh-CN" altLang="en-US" dirty="0">
                <a:latin typeface="Calibri" panose="020F0502020204030204" charset="0"/>
                <a:ea typeface="宋体" panose="02010600030101010101" pitchFamily="2" charset="-122"/>
                <a:cs typeface="Arial" panose="020B0604020202020204" pitchFamily="34" charset="0"/>
              </a:rPr>
              <a:t>×</a:t>
            </a:r>
            <a:r>
              <a:rPr lang="en-US" altLang="zh-CN" dirty="0">
                <a:latin typeface="Calibri" panose="020F0502020204030204" charset="0"/>
                <a:ea typeface="宋体" panose="02010600030101010101" pitchFamily="2" charset="-122"/>
                <a:cs typeface="Arial" panose="020B0604020202020204" pitchFamily="34" charset="0"/>
              </a:rPr>
              <a:t>768+3072=2362368</a:t>
            </a:r>
            <a:endParaRPr lang="zh-CN" altLang="en-US" dirty="0">
              <a:latin typeface="Calibri" panose="020F0502020204030204" charset="0"/>
              <a:ea typeface="宋体" panose="02010600030101010101" pitchFamily="2" charset="-122"/>
              <a:cs typeface="Arial" panose="020B0604020202020204" pitchFamily="34" charset="0"/>
            </a:endParaRPr>
          </a:p>
          <a:p>
            <a:r>
              <a:rPr lang="zh-CN" altLang="en-US" dirty="0">
                <a:latin typeface="Calibri" panose="020F0502020204030204" charset="0"/>
                <a:ea typeface="宋体" panose="02010600030101010101" pitchFamily="2" charset="-122"/>
                <a:cs typeface="Arial" panose="020B0604020202020204" pitchFamily="34" charset="0"/>
              </a:rPr>
              <a:t>降维：</a:t>
            </a:r>
            <a:r>
              <a:rPr lang="en-US" altLang="zh-CN" dirty="0">
                <a:latin typeface="Calibri" panose="020F0502020204030204" charset="0"/>
                <a:ea typeface="宋体" panose="02010600030101010101" pitchFamily="2" charset="-122"/>
                <a:cs typeface="Arial" panose="020B0604020202020204" pitchFamily="34" charset="0"/>
              </a:rPr>
              <a:t>3072</a:t>
            </a:r>
            <a:r>
              <a:rPr lang="zh-CN" altLang="en-US" dirty="0">
                <a:latin typeface="Calibri" panose="020F0502020204030204" charset="0"/>
                <a:ea typeface="宋体" panose="02010600030101010101" pitchFamily="2" charset="-122"/>
                <a:cs typeface="Arial" panose="020B0604020202020204" pitchFamily="34" charset="0"/>
              </a:rPr>
              <a:t>×</a:t>
            </a:r>
            <a:r>
              <a:rPr lang="en-US" altLang="zh-CN" dirty="0">
                <a:latin typeface="Calibri" panose="020F0502020204030204" charset="0"/>
                <a:ea typeface="宋体" panose="02010600030101010101" pitchFamily="2" charset="-122"/>
                <a:cs typeface="Arial" panose="020B0604020202020204" pitchFamily="34" charset="0"/>
              </a:rPr>
              <a:t>768+768=2360064</a:t>
            </a:r>
          </a:p>
          <a:p>
            <a:r>
              <a:rPr lang="zh-CN" altLang="en-US" dirty="0">
                <a:latin typeface="Calibri" panose="020F0502020204030204" charset="0"/>
                <a:ea typeface="宋体" panose="02010600030101010101" pitchFamily="2" charset="-122"/>
                <a:cs typeface="Arial" panose="020B0604020202020204" pitchFamily="34" charset="0"/>
              </a:rPr>
              <a:t>总和</a:t>
            </a:r>
            <a:r>
              <a:rPr lang="en-US" altLang="zh-CN" dirty="0">
                <a:latin typeface="Calibri" panose="020F0502020204030204" charset="0"/>
                <a:ea typeface="宋体" panose="02010600030101010101" pitchFamily="2" charset="-122"/>
                <a:cs typeface="Arial" panose="020B0604020202020204" pitchFamily="34" charset="0"/>
              </a:rPr>
              <a:t>=</a:t>
            </a:r>
            <a:r>
              <a:rPr lang="zh-CN" altLang="en-US" dirty="0">
                <a:latin typeface="Calibri" panose="020F0502020204030204" charset="0"/>
                <a:ea typeface="宋体" panose="02010600030101010101" pitchFamily="2" charset="-122"/>
                <a:cs typeface="Arial" panose="020B0604020202020204" pitchFamily="34" charset="0"/>
              </a:rPr>
              <a:t>升维</a:t>
            </a:r>
            <a:r>
              <a:rPr lang="en-US" altLang="zh-CN" dirty="0">
                <a:latin typeface="Calibri" panose="020F0502020204030204" charset="0"/>
                <a:ea typeface="宋体" panose="02010600030101010101" pitchFamily="2" charset="-122"/>
                <a:cs typeface="Arial" panose="020B0604020202020204" pitchFamily="34" charset="0"/>
              </a:rPr>
              <a:t>+</a:t>
            </a:r>
            <a:r>
              <a:rPr lang="zh-CN" altLang="en-US" dirty="0">
                <a:latin typeface="Calibri" panose="020F0502020204030204" charset="0"/>
                <a:ea typeface="宋体" panose="02010600030101010101" pitchFamily="2" charset="-122"/>
                <a:cs typeface="Arial" panose="020B0604020202020204" pitchFamily="34" charset="0"/>
              </a:rPr>
              <a:t>降维</a:t>
            </a:r>
            <a:r>
              <a:rPr lang="en-US" altLang="zh-CN" dirty="0">
                <a:latin typeface="Calibri" panose="020F0502020204030204" charset="0"/>
                <a:ea typeface="宋体" panose="02010600030101010101" pitchFamily="2" charset="-122"/>
                <a:cs typeface="Arial" panose="020B0604020202020204" pitchFamily="34" charset="0"/>
              </a:rPr>
              <a:t>=2362368+2360064=4722432</a:t>
            </a:r>
          </a:p>
          <a:p>
            <a:r>
              <a:rPr lang="zh-CN" altLang="en-US" dirty="0">
                <a:latin typeface="Calibri" panose="020F0502020204030204" charset="0"/>
                <a:ea typeface="宋体" panose="02010600030101010101" pitchFamily="2" charset="-122"/>
                <a:cs typeface="Arial" panose="020B0604020202020204" pitchFamily="34" charset="0"/>
              </a:rPr>
              <a:t>（</a:t>
            </a:r>
            <a:r>
              <a:rPr lang="en-US" altLang="zh-CN" dirty="0">
                <a:latin typeface="Calibri" panose="020F0502020204030204" charset="0"/>
                <a:ea typeface="宋体" panose="02010600030101010101" pitchFamily="2" charset="-122"/>
                <a:cs typeface="Arial" panose="020B0604020202020204" pitchFamily="34" charset="0"/>
              </a:rPr>
              <a:t>3</a:t>
            </a:r>
            <a:r>
              <a:rPr lang="zh-CN" altLang="en-US" dirty="0">
                <a:latin typeface="Calibri" panose="020F0502020204030204" charset="0"/>
                <a:ea typeface="宋体" panose="02010600030101010101" pitchFamily="2" charset="-122"/>
                <a:cs typeface="Arial" panose="020B0604020202020204" pitchFamily="34" charset="0"/>
              </a:rPr>
              <a:t>）层归一化</a:t>
            </a:r>
          </a:p>
          <a:p>
            <a:r>
              <a:rPr lang="zh-CN" altLang="en-US" dirty="0">
                <a:latin typeface="Calibri" panose="020F0502020204030204" charset="0"/>
                <a:ea typeface="宋体" panose="02010600030101010101" pitchFamily="2" charset="-122"/>
                <a:cs typeface="Arial" panose="020B0604020202020204" pitchFamily="34" charset="0"/>
              </a:rPr>
              <a:t>每个</a:t>
            </a:r>
            <a:r>
              <a:rPr lang="en-US" altLang="zh-CN" dirty="0" err="1">
                <a:latin typeface="Calibri" panose="020F0502020204030204" charset="0"/>
                <a:ea typeface="宋体" panose="02010600030101010101" pitchFamily="2" charset="-122"/>
                <a:cs typeface="Arial" panose="020B0604020202020204" pitchFamily="34" charset="0"/>
              </a:rPr>
              <a:t>Layernorm</a:t>
            </a:r>
            <a:r>
              <a:rPr lang="zh-CN" altLang="en-US" dirty="0">
                <a:latin typeface="Calibri" panose="020F0502020204030204" charset="0"/>
                <a:ea typeface="宋体" panose="02010600030101010101" pitchFamily="2" charset="-122"/>
                <a:cs typeface="Arial" panose="020B0604020202020204" pitchFamily="34" charset="0"/>
              </a:rPr>
              <a:t>（</a:t>
            </a:r>
            <a:r>
              <a:rPr lang="en-US" altLang="zh-CN" dirty="0">
                <a:latin typeface="Calibri" panose="020F0502020204030204" charset="0"/>
                <a:ea typeface="宋体" panose="02010600030101010101" pitchFamily="2" charset="-122"/>
                <a:cs typeface="Arial" panose="020B0604020202020204" pitchFamily="34" charset="0"/>
              </a:rPr>
              <a:t>LN</a:t>
            </a:r>
            <a:r>
              <a:rPr lang="zh-CN" altLang="en-US" dirty="0">
                <a:latin typeface="Calibri" panose="020F0502020204030204" charset="0"/>
                <a:ea typeface="宋体" panose="02010600030101010101" pitchFamily="2" charset="-122"/>
                <a:cs typeface="Arial" panose="020B0604020202020204" pitchFamily="34" charset="0"/>
              </a:rPr>
              <a:t>）：</a:t>
            </a:r>
            <a:r>
              <a:rPr lang="en-US" altLang="zh-CN" dirty="0">
                <a:latin typeface="Calibri" panose="020F0502020204030204" charset="0"/>
                <a:ea typeface="宋体" panose="02010600030101010101" pitchFamily="2" charset="-122"/>
                <a:cs typeface="Arial" panose="020B0604020202020204" pitchFamily="34" charset="0"/>
              </a:rPr>
              <a:t>768+768=1536</a:t>
            </a:r>
          </a:p>
          <a:p>
            <a:r>
              <a:rPr lang="zh-CN" altLang="en-US" dirty="0">
                <a:latin typeface="Calibri" panose="020F0502020204030204" charset="0"/>
                <a:ea typeface="宋体" panose="02010600030101010101" pitchFamily="2" charset="-122"/>
                <a:cs typeface="Arial" panose="020B0604020202020204" pitchFamily="34" charset="0"/>
              </a:rPr>
              <a:t>两个</a:t>
            </a:r>
            <a:r>
              <a:rPr lang="en-US" altLang="zh-CN" dirty="0" err="1">
                <a:latin typeface="Calibri" panose="020F0502020204030204" charset="0"/>
                <a:ea typeface="宋体" panose="02010600030101010101" pitchFamily="2" charset="-122"/>
                <a:cs typeface="Arial" panose="020B0604020202020204" pitchFamily="34" charset="0"/>
              </a:rPr>
              <a:t>Layernorm</a:t>
            </a:r>
            <a:r>
              <a:rPr lang="zh-CN" altLang="en-US" dirty="0">
                <a:latin typeface="Calibri" panose="020F0502020204030204" charset="0"/>
                <a:ea typeface="宋体" panose="02010600030101010101" pitchFamily="2" charset="-122"/>
                <a:cs typeface="Arial" panose="020B0604020202020204" pitchFamily="34" charset="0"/>
              </a:rPr>
              <a:t>：</a:t>
            </a:r>
            <a:r>
              <a:rPr lang="en-US" altLang="zh-CN" dirty="0">
                <a:latin typeface="Calibri" panose="020F0502020204030204" charset="0"/>
                <a:ea typeface="宋体" panose="02010600030101010101" pitchFamily="2" charset="-122"/>
                <a:cs typeface="Arial" panose="020B0604020202020204" pitchFamily="34" charset="0"/>
              </a:rPr>
              <a:t>1536</a:t>
            </a:r>
            <a:r>
              <a:rPr lang="zh-CN" altLang="en-US" dirty="0">
                <a:latin typeface="Calibri" panose="020F0502020204030204" charset="0"/>
                <a:ea typeface="宋体" panose="02010600030101010101" pitchFamily="2" charset="-122"/>
                <a:cs typeface="Arial" panose="020B0604020202020204" pitchFamily="34" charset="0"/>
              </a:rPr>
              <a:t>×</a:t>
            </a:r>
            <a:r>
              <a:rPr lang="en-US" altLang="zh-CN" dirty="0">
                <a:latin typeface="Calibri" panose="020F0502020204030204" charset="0"/>
                <a:ea typeface="宋体" panose="02010600030101010101" pitchFamily="2" charset="-122"/>
                <a:cs typeface="Arial" panose="020B0604020202020204" pitchFamily="34" charset="0"/>
              </a:rPr>
              <a:t>2=3072</a:t>
            </a:r>
          </a:p>
          <a:p>
            <a:r>
              <a:rPr lang="en-US" altLang="zh-CN" dirty="0">
                <a:latin typeface="Calibri" panose="020F0502020204030204" charset="0"/>
                <a:ea typeface="宋体" panose="02010600030101010101" pitchFamily="2" charset="-122"/>
                <a:cs typeface="Arial" panose="020B0604020202020204" pitchFamily="34" charset="0"/>
              </a:rPr>
              <a:t> </a:t>
            </a:r>
          </a:p>
          <a:p>
            <a:r>
              <a:rPr lang="zh-CN" altLang="en-US" dirty="0">
                <a:latin typeface="Calibri" panose="020F0502020204030204" charset="0"/>
                <a:ea typeface="宋体" panose="02010600030101010101" pitchFamily="2" charset="-122"/>
                <a:cs typeface="Arial" panose="020B0604020202020204" pitchFamily="34" charset="0"/>
              </a:rPr>
              <a:t>加总：</a:t>
            </a:r>
            <a:r>
              <a:rPr lang="en-US" altLang="zh-CN" dirty="0">
                <a:latin typeface="Calibri" panose="020F0502020204030204" charset="0"/>
                <a:ea typeface="宋体" panose="02010600030101010101" pitchFamily="2" charset="-122"/>
                <a:cs typeface="Arial" panose="020B0604020202020204" pitchFamily="34" charset="0"/>
              </a:rPr>
              <a:t>2361600+4722432+3072=7087872</a:t>
            </a:r>
          </a:p>
          <a:p>
            <a:endParaRPr lang="en-US" altLang="zh-CN" dirty="0">
              <a:latin typeface="Calibri" panose="020F0502020204030204" charset="0"/>
              <a:ea typeface="宋体" panose="02010600030101010101" pitchFamily="2" charset="-122"/>
              <a:cs typeface="Arial" panose="020B0604020202020204" pitchFamily="34" charset="0"/>
            </a:endParaRPr>
          </a:p>
          <a:p>
            <a:r>
              <a:rPr lang="en-US" altLang="zh-CN" dirty="0">
                <a:latin typeface="Calibri" panose="020F0502020204030204" charset="0"/>
                <a:ea typeface="宋体" panose="02010600030101010101" pitchFamily="2" charset="-122"/>
                <a:cs typeface="Arial" panose="020B0604020202020204" pitchFamily="34" charset="0"/>
              </a:rPr>
              <a:t>③12</a:t>
            </a:r>
            <a:r>
              <a:rPr lang="zh-CN" altLang="en-US" dirty="0">
                <a:latin typeface="Calibri" panose="020F0502020204030204" charset="0"/>
                <a:ea typeface="宋体" panose="02010600030101010101" pitchFamily="2" charset="-122"/>
                <a:cs typeface="Arial" panose="020B0604020202020204" pitchFamily="34" charset="0"/>
              </a:rPr>
              <a:t>层</a:t>
            </a:r>
            <a:r>
              <a:rPr lang="en-US" altLang="zh-CN" dirty="0">
                <a:latin typeface="Calibri" panose="020F0502020204030204" charset="0"/>
                <a:ea typeface="宋体" panose="02010600030101010101" pitchFamily="2" charset="-122"/>
                <a:cs typeface="Arial" panose="020B0604020202020204" pitchFamily="34" charset="0"/>
              </a:rPr>
              <a:t>Decoder</a:t>
            </a:r>
            <a:r>
              <a:rPr lang="zh-CN" altLang="en-US" dirty="0">
                <a:latin typeface="Calibri" panose="020F0502020204030204" charset="0"/>
                <a:ea typeface="宋体" panose="02010600030101010101" pitchFamily="2" charset="-122"/>
                <a:cs typeface="Arial" panose="020B0604020202020204" pitchFamily="34" charset="0"/>
              </a:rPr>
              <a:t>总参数</a:t>
            </a:r>
          </a:p>
          <a:p>
            <a:r>
              <a:rPr lang="en-US" altLang="zh-CN" dirty="0">
                <a:latin typeface="Calibri" panose="020F0502020204030204" charset="0"/>
                <a:ea typeface="宋体" panose="02010600030101010101" pitchFamily="2" charset="-122"/>
                <a:cs typeface="Arial" panose="020B0604020202020204" pitchFamily="34" charset="0"/>
              </a:rPr>
              <a:t>12</a:t>
            </a:r>
            <a:r>
              <a:rPr lang="zh-CN" altLang="en-US" dirty="0">
                <a:latin typeface="Calibri" panose="020F0502020204030204" charset="0"/>
                <a:ea typeface="宋体" panose="02010600030101010101" pitchFamily="2" charset="-122"/>
                <a:cs typeface="Arial" panose="020B0604020202020204" pitchFamily="34" charset="0"/>
              </a:rPr>
              <a:t>×</a:t>
            </a:r>
            <a:r>
              <a:rPr lang="en-US" altLang="zh-CN" dirty="0">
                <a:latin typeface="Calibri" panose="020F0502020204030204" charset="0"/>
                <a:ea typeface="宋体" panose="02010600030101010101" pitchFamily="2" charset="-122"/>
                <a:cs typeface="Arial" panose="020B0604020202020204" pitchFamily="34" charset="0"/>
              </a:rPr>
              <a:t>7087872=85054464</a:t>
            </a:r>
          </a:p>
          <a:p>
            <a:endParaRPr lang="en-US" altLang="zh-CN" dirty="0">
              <a:latin typeface="Calibri" panose="020F0502020204030204" charset="0"/>
              <a:ea typeface="宋体" panose="02010600030101010101" pitchFamily="2" charset="-122"/>
              <a:cs typeface="Arial" panose="020B0604020202020204" pitchFamily="34" charset="0"/>
            </a:endParaRPr>
          </a:p>
          <a:p>
            <a:endParaRPr lang="en-US" altLang="zh-CN" sz="1600" dirty="0">
              <a:latin typeface="Calibri" panose="020F0502020204030204" charset="0"/>
              <a:ea typeface="宋体" panose="02010600030101010101" pitchFamily="2" charset="-122"/>
              <a:cs typeface="Arial" panose="020B0604020202020204" pitchFamily="34" charset="0"/>
            </a:endParaRPr>
          </a:p>
          <a:p>
            <a:endParaRPr lang="zh-CN" altLang="en-US" sz="1600" dirty="0">
              <a:latin typeface="Calibri" panose="020F0502020204030204" charset="0"/>
              <a:ea typeface="宋体" panose="02010600030101010101" pitchFamily="2" charset="-122"/>
              <a:cs typeface="Arial" panose="020B0604020202020204" pitchFamily="34" charset="0"/>
            </a:endParaRPr>
          </a:p>
          <a:p>
            <a:endParaRPr lang="zh-CN" altLang="en-US" sz="1600" dirty="0">
              <a:latin typeface="Calibri" panose="020F0502020204030204" charset="0"/>
              <a:ea typeface="宋体" panose="02010600030101010101" pitchFamily="2" charset="-122"/>
              <a:cs typeface="Arial" panose="020B0604020202020204" pitchFamily="34" charset="0"/>
            </a:endParaRPr>
          </a:p>
        </p:txBody>
      </p:sp>
      <p:sp>
        <p:nvSpPr>
          <p:cNvPr id="4" name="文本框 3"/>
          <p:cNvSpPr txBox="1"/>
          <p:nvPr/>
        </p:nvSpPr>
        <p:spPr>
          <a:xfrm>
            <a:off x="5474970" y="815949"/>
            <a:ext cx="6614795" cy="1168400"/>
          </a:xfrm>
          <a:prstGeom prst="rect">
            <a:avLst/>
          </a:prstGeom>
          <a:noFill/>
        </p:spPr>
        <p:txBody>
          <a:bodyPr wrap="square" rtlCol="0">
            <a:spAutoFit/>
          </a:bodyPr>
          <a:lstStyle/>
          <a:p>
            <a:r>
              <a:rPr lang="zh-CN" altLang="en-US" dirty="0"/>
              <a:t>④输出层</a:t>
            </a:r>
          </a:p>
          <a:p>
            <a:r>
              <a:rPr lang="zh-CN" altLang="en-US" dirty="0"/>
              <a:t>权重</a:t>
            </a:r>
            <a:r>
              <a:rPr lang="en-US" altLang="zh-CN" dirty="0"/>
              <a:t>W</a:t>
            </a:r>
            <a:r>
              <a:rPr lang="en-US" altLang="zh-CN" baseline="-25000" dirty="0"/>
              <a:t>out</a:t>
            </a:r>
            <a:r>
              <a:rPr lang="en-US" altLang="zh-CN" dirty="0"/>
              <a:t>=</a:t>
            </a:r>
            <a:r>
              <a:rPr lang="en-US" altLang="zh-CN" dirty="0" err="1"/>
              <a:t>W</a:t>
            </a:r>
            <a:r>
              <a:rPr lang="en-US" altLang="zh-CN" baseline="-25000" dirty="0" err="1"/>
              <a:t>e</a:t>
            </a:r>
            <a:r>
              <a:rPr lang="en-US" altLang="zh-CN" baseline="30000" dirty="0" err="1"/>
              <a:t>T</a:t>
            </a:r>
            <a:r>
              <a:rPr lang="zh-CN" altLang="en-US" dirty="0">
                <a:ea typeface="宋体" panose="02010600030101010101" pitchFamily="2" charset="-122"/>
              </a:rPr>
              <a:t>，参数共享不新增任何参数</a:t>
            </a:r>
          </a:p>
          <a:p>
            <a:endParaRPr lang="zh-CN" altLang="en-US" dirty="0">
              <a:ea typeface="宋体" panose="02010600030101010101" pitchFamily="2" charset="-122"/>
            </a:endParaRPr>
          </a:p>
          <a:p>
            <a:endParaRPr lang="zh-CN" altLang="en-US" dirty="0">
              <a:ea typeface="宋体" panose="02010600030101010101" pitchFamily="2" charset="-122"/>
            </a:endParaRPr>
          </a:p>
          <a:p>
            <a:r>
              <a:rPr lang="zh-CN" altLang="en-US" dirty="0">
                <a:ea typeface="宋体" panose="02010600030101010101" pitchFamily="2" charset="-122"/>
              </a:rPr>
              <a:t>总参数：嵌入层</a:t>
            </a:r>
            <a:r>
              <a:rPr lang="en-US" altLang="zh-CN" dirty="0">
                <a:ea typeface="宋体" panose="02010600030101010101" pitchFamily="2" charset="-122"/>
              </a:rPr>
              <a:t>+12</a:t>
            </a:r>
            <a:r>
              <a:rPr lang="zh-CN" altLang="en-US" dirty="0">
                <a:ea typeface="宋体" panose="02010600030101010101" pitchFamily="2" charset="-122"/>
              </a:rPr>
              <a:t>层</a:t>
            </a:r>
            <a:r>
              <a:rPr lang="en-US" altLang="zh-CN" dirty="0">
                <a:ea typeface="宋体" panose="02010600030101010101" pitchFamily="2" charset="-122"/>
              </a:rPr>
              <a:t>Decoder=31113216+85054464=116167680</a:t>
            </a:r>
            <a:r>
              <a:rPr lang="zh-CN" altLang="en-US" dirty="0">
                <a:ea typeface="宋体" panose="02010600030101010101" pitchFamily="2" charset="-122"/>
              </a:rPr>
              <a:t>（约等于</a:t>
            </a:r>
            <a:r>
              <a:rPr lang="en-US" altLang="zh-CN" dirty="0">
                <a:ea typeface="宋体" panose="02010600030101010101" pitchFamily="2" charset="-122"/>
              </a:rPr>
              <a:t>117M</a:t>
            </a:r>
            <a:r>
              <a:rPr lang="zh-CN" altLang="en-US" dirty="0">
                <a:ea typeface="宋体" panose="02010600030101010101" pitchFamily="2" charset="-122"/>
              </a:rPr>
              <a:t>）</a:t>
            </a:r>
          </a:p>
        </p:txBody>
      </p:sp>
      <p:sp>
        <p:nvSpPr>
          <p:cNvPr id="7" name="文本框 6">
            <a:extLst>
              <a:ext uri="{FF2B5EF4-FFF2-40B4-BE49-F238E27FC236}">
                <a16:creationId xmlns:a16="http://schemas.microsoft.com/office/drawing/2014/main" id="{29F11631-4667-EBDF-60CF-CCD31B6801A6}"/>
              </a:ext>
            </a:extLst>
          </p:cNvPr>
          <p:cNvSpPr txBox="1"/>
          <p:nvPr/>
        </p:nvSpPr>
        <p:spPr>
          <a:xfrm>
            <a:off x="504507" y="286320"/>
            <a:ext cx="3821880" cy="430887"/>
          </a:xfrm>
          <a:prstGeom prst="rect">
            <a:avLst/>
          </a:prstGeom>
          <a:noFill/>
        </p:spPr>
        <p:txBody>
          <a:bodyPr wrap="none" rtlCol="0">
            <a:spAutoFit/>
          </a:bodyPr>
          <a:lstStyle/>
          <a:p>
            <a:r>
              <a:rPr lang="zh-CN" altLang="en-US" sz="2200" dirty="0">
                <a:solidFill>
                  <a:schemeClr val="bg2">
                    <a:lumMod val="60000"/>
                    <a:lumOff val="40000"/>
                  </a:schemeClr>
                </a:solidFill>
              </a:rPr>
              <a:t>三</a:t>
            </a:r>
            <a:r>
              <a:rPr lang="en-US" altLang="zh-CN" sz="2200" dirty="0">
                <a:solidFill>
                  <a:schemeClr val="bg2">
                    <a:lumMod val="60000"/>
                    <a:lumOff val="40000"/>
                  </a:schemeClr>
                </a:solidFill>
              </a:rPr>
              <a:t>.GPT1</a:t>
            </a:r>
            <a:r>
              <a:rPr lang="zh-CN" altLang="en-US" sz="2200" dirty="0">
                <a:solidFill>
                  <a:schemeClr val="bg2">
                    <a:lumMod val="60000"/>
                    <a:lumOff val="40000"/>
                  </a:schemeClr>
                </a:solidFill>
              </a:rPr>
              <a:t>参数计算与优化策略</a:t>
            </a:r>
          </a:p>
        </p:txBody>
      </p:sp>
      <p:pic>
        <p:nvPicPr>
          <p:cNvPr id="8" name="Google Shape;169;p18">
            <a:extLst>
              <a:ext uri="{FF2B5EF4-FFF2-40B4-BE49-F238E27FC236}">
                <a16:creationId xmlns:a16="http://schemas.microsoft.com/office/drawing/2014/main" id="{72993059-EC58-3C17-C2C0-1F42F1F9A3EC}"/>
              </a:ext>
            </a:extLst>
          </p:cNvPr>
          <p:cNvPicPr preferRelativeResize="0"/>
          <p:nvPr/>
        </p:nvPicPr>
        <p:blipFill rotWithShape="1">
          <a:blip r:embed="rId3">
            <a:alphaModFix/>
          </a:blip>
          <a:srcRect/>
          <a:stretch/>
        </p:blipFill>
        <p:spPr>
          <a:xfrm>
            <a:off x="5499117" y="2701517"/>
            <a:ext cx="6614795" cy="3908831"/>
          </a:xfrm>
          <a:prstGeom prst="rect">
            <a:avLst/>
          </a:prstGeom>
          <a:noFill/>
          <a:ln>
            <a:noFill/>
          </a:ln>
        </p:spPr>
      </p:pic>
      <p:sp>
        <p:nvSpPr>
          <p:cNvPr id="9" name="文本框 8">
            <a:extLst>
              <a:ext uri="{FF2B5EF4-FFF2-40B4-BE49-F238E27FC236}">
                <a16:creationId xmlns:a16="http://schemas.microsoft.com/office/drawing/2014/main" id="{74772622-6995-44C0-5614-885102B5C9EF}"/>
              </a:ext>
            </a:extLst>
          </p:cNvPr>
          <p:cNvSpPr txBox="1"/>
          <p:nvPr/>
        </p:nvSpPr>
        <p:spPr>
          <a:xfrm>
            <a:off x="5653088" y="2966720"/>
            <a:ext cx="3153427" cy="307777"/>
          </a:xfrm>
          <a:prstGeom prst="rect">
            <a:avLst/>
          </a:prstGeom>
          <a:noFill/>
        </p:spPr>
        <p:txBody>
          <a:bodyPr wrap="none" rtlCol="0">
            <a:spAutoFit/>
          </a:bodyPr>
          <a:lstStyle/>
          <a:p>
            <a:r>
              <a:rPr lang="zh-CN" altLang="en-US" dirty="0"/>
              <a:t>优化策略：</a:t>
            </a:r>
            <a:r>
              <a:rPr lang="en-US" altLang="zh-CN" dirty="0" err="1"/>
              <a:t>Adam+Warmup</a:t>
            </a:r>
            <a:r>
              <a:rPr lang="en-US" altLang="zh-CN" dirty="0"/>
              <a:t>+</a:t>
            </a:r>
            <a:r>
              <a:rPr lang="zh-CN" altLang="en-US" dirty="0"/>
              <a:t>余弦退火</a:t>
            </a:r>
            <a:endParaRPr lang="en-US" altLang="zh-CN" dirty="0"/>
          </a:p>
        </p:txBody>
      </p:sp>
      <p:sp>
        <p:nvSpPr>
          <p:cNvPr id="11" name="Google Shape;211;p21">
            <a:extLst>
              <a:ext uri="{FF2B5EF4-FFF2-40B4-BE49-F238E27FC236}">
                <a16:creationId xmlns:a16="http://schemas.microsoft.com/office/drawing/2014/main" id="{F67D5014-C7B0-2354-2655-99B6EEC19A01}"/>
              </a:ext>
            </a:extLst>
          </p:cNvPr>
          <p:cNvSpPr/>
          <p:nvPr/>
        </p:nvSpPr>
        <p:spPr>
          <a:xfrm>
            <a:off x="504507" y="361949"/>
            <a:ext cx="54293" cy="279627"/>
          </a:xfrm>
          <a:prstGeom prst="rect">
            <a:avLst/>
          </a:prstGeom>
          <a:solidFill>
            <a:srgbClr val="1A73E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mc:AlternateContent xmlns:mc="http://schemas.openxmlformats.org/markup-compatibility/2006">
        <mc:Choice xmlns:a14="http://schemas.microsoft.com/office/drawing/2010/main" Requires="a14">
          <p:sp>
            <p:nvSpPr>
              <p:cNvPr id="12" name="文本框 11">
                <a:extLst>
                  <a:ext uri="{FF2B5EF4-FFF2-40B4-BE49-F238E27FC236}">
                    <a16:creationId xmlns:a16="http://schemas.microsoft.com/office/drawing/2014/main" id="{1726CB67-DB8F-AD3F-2036-BF320D108205}"/>
                  </a:ext>
                </a:extLst>
              </p:cNvPr>
              <p:cNvSpPr txBox="1"/>
              <p:nvPr/>
            </p:nvSpPr>
            <p:spPr>
              <a:xfrm>
                <a:off x="5665871" y="4728797"/>
                <a:ext cx="2253374" cy="326949"/>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zh-CN" altLang="en-US" smtClean="0">
                              <a:latin typeface="Cambria Math" panose="02040503050406030204" pitchFamily="18" charset="0"/>
                            </a:rPr>
                          </m:ctrlPr>
                        </m:sSubPr>
                        <m:e>
                          <m:r>
                            <a:rPr lang="zh-CN" altLang="en-US" i="1">
                              <a:latin typeface="Cambria Math" panose="02040503050406030204" pitchFamily="18" charset="0"/>
                            </a:rPr>
                            <m:t>𝑇</m:t>
                          </m:r>
                        </m:e>
                        <m:sub>
                          <m:r>
                            <m:rPr>
                              <m:sty m:val="p"/>
                            </m:rPr>
                            <a:rPr lang="en-US" altLang="zh-CN" i="1" smtClean="0">
                              <a:latin typeface="Cambria Math" panose="02040503050406030204" pitchFamily="18" charset="0"/>
                            </a:rPr>
                            <m:t>remain</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1">
                              <a:latin typeface="Cambria Math" panose="02040503050406030204" pitchFamily="18" charset="0"/>
                            </a:rPr>
                            <m:t>𝑡</m:t>
                          </m:r>
                          <m:r>
                            <m:rPr>
                              <m:sty m:val="p"/>
                            </m:rPr>
                            <a:rPr lang="en-US" altLang="zh-CN" i="1" smtClean="0">
                              <a:latin typeface="Cambria Math" panose="02040503050406030204" pitchFamily="18" charset="0"/>
                            </a:rPr>
                            <m:t>otal</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m:rPr>
                              <m:sty m:val="p"/>
                            </m:rPr>
                            <a:rPr lang="en-US" altLang="zh-CN" i="1" smtClean="0">
                              <a:latin typeface="Cambria Math" panose="02040503050406030204" pitchFamily="18" charset="0"/>
                            </a:rPr>
                            <m:t>warmup</m:t>
                          </m:r>
                        </m:sub>
                      </m:sSub>
                    </m:oMath>
                  </m:oMathPara>
                </a14:m>
                <a:endParaRPr lang="zh-CN" altLang="en-US" dirty="0"/>
              </a:p>
            </p:txBody>
          </p:sp>
        </mc:Choice>
        <mc:Fallback>
          <p:sp>
            <p:nvSpPr>
              <p:cNvPr id="12" name="文本框 11">
                <a:extLst>
                  <a:ext uri="{FF2B5EF4-FFF2-40B4-BE49-F238E27FC236}">
                    <a16:creationId xmlns:a16="http://schemas.microsoft.com/office/drawing/2014/main" id="{1726CB67-DB8F-AD3F-2036-BF320D108205}"/>
                  </a:ext>
                </a:extLst>
              </p:cNvPr>
              <p:cNvSpPr txBox="1">
                <a:spLocks noRot="1" noChangeAspect="1" noMove="1" noResize="1" noEditPoints="1" noAdjustHandles="1" noChangeArrowheads="1" noChangeShapeType="1" noTextEdit="1"/>
              </p:cNvSpPr>
              <p:nvPr/>
            </p:nvSpPr>
            <p:spPr>
              <a:xfrm>
                <a:off x="5665871" y="4728797"/>
                <a:ext cx="2253374" cy="326949"/>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29BC637B-E26D-EF2F-3505-E1B8DEB9C801}"/>
                  </a:ext>
                </a:extLst>
              </p:cNvPr>
              <p:cNvSpPr txBox="1"/>
              <p:nvPr/>
            </p:nvSpPr>
            <p:spPr>
              <a:xfrm>
                <a:off x="5598795" y="5455309"/>
                <a:ext cx="3616183" cy="58285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𝐿𝑅</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0">
                              <a:latin typeface="Cambria Math" panose="02040503050406030204" pitchFamily="18" charset="0"/>
                            </a:rPr>
                            <m:t>2</m:t>
                          </m:r>
                        </m:den>
                      </m:f>
                      <m:sSub>
                        <m:sSubPr>
                          <m:ctrlPr>
                            <a:rPr lang="zh-CN" altLang="en-US" i="1">
                              <a:latin typeface="Cambria Math" panose="02040503050406030204" pitchFamily="18" charset="0"/>
                            </a:rPr>
                          </m:ctrlPr>
                        </m:sSubPr>
                        <m:e>
                          <m:r>
                            <a:rPr lang="zh-CN" altLang="en-US" i="1">
                              <a:latin typeface="Cambria Math" panose="02040503050406030204" pitchFamily="18" charset="0"/>
                            </a:rPr>
                            <m:t>𝜂</m:t>
                          </m:r>
                        </m:e>
                        <m:sub>
                          <m:r>
                            <m:rPr>
                              <m:sty m:val="p"/>
                            </m:rPr>
                            <a:rPr lang="en-US" altLang="zh-CN" i="1" smtClean="0">
                              <a:latin typeface="Cambria Math" panose="02040503050406030204" pitchFamily="18" charset="0"/>
                            </a:rPr>
                            <m:t>max</m:t>
                          </m:r>
                        </m:sub>
                      </m:sSub>
                      <m:d>
                        <m:dPr>
                          <m:ctrlPr>
                            <a:rPr lang="zh-CN" altLang="en-US" i="1">
                              <a:latin typeface="Cambria Math" panose="02040503050406030204" pitchFamily="18" charset="0"/>
                            </a:rPr>
                          </m:ctrlPr>
                        </m:dPr>
                        <m:e>
                          <m:r>
                            <a:rPr lang="zh-CN" altLang="en-US" i="0">
                              <a:latin typeface="Cambria Math" panose="02040503050406030204" pitchFamily="18" charset="0"/>
                            </a:rPr>
                            <m:t>1+</m:t>
                          </m:r>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cos</m:t>
                              </m:r>
                            </m:fName>
                            <m:e>
                              <m:d>
                                <m:dPr>
                                  <m:ctrlPr>
                                    <a:rPr lang="zh-CN" altLang="en-US" i="1">
                                      <a:latin typeface="Cambria Math" panose="02040503050406030204" pitchFamily="18" charset="0"/>
                                    </a:rPr>
                                  </m:ctrlPr>
                                </m:dPr>
                                <m:e>
                                  <m:r>
                                    <a:rPr lang="zh-CN" altLang="en-US" i="1">
                                      <a:latin typeface="Cambria Math" panose="02040503050406030204" pitchFamily="18" charset="0"/>
                                    </a:rPr>
                                    <m:t>𝜋</m:t>
                                  </m:r>
                                  <m:f>
                                    <m:fPr>
                                      <m:ctrlPr>
                                        <a:rPr lang="zh-CN" altLang="en-US" i="1">
                                          <a:latin typeface="Cambria Math" panose="02040503050406030204" pitchFamily="18" charset="0"/>
                                        </a:rPr>
                                      </m:ctrlPr>
                                    </m:fPr>
                                    <m:num>
                                      <m:r>
                                        <a:rPr lang="zh-CN" altLang="en-US" i="1">
                                          <a:latin typeface="Cambria Math" panose="02040503050406030204" pitchFamily="18" charset="0"/>
                                        </a:rPr>
                                        <m:t>𝑡</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m:rPr>
                                              <m:sty m:val="p"/>
                                            </m:rPr>
                                            <a:rPr lang="en-US" altLang="zh-CN" i="1" smtClean="0">
                                              <a:latin typeface="Cambria Math" panose="02040503050406030204" pitchFamily="18" charset="0"/>
                                            </a:rPr>
                                            <m:t>warmup</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1">
                                              <a:latin typeface="Cambria Math" panose="02040503050406030204" pitchFamily="18" charset="0"/>
                                            </a:rPr>
                                            <m:t>𝑡</m:t>
                                          </m:r>
                                          <m:r>
                                            <m:rPr>
                                              <m:sty m:val="p"/>
                                            </m:rPr>
                                            <a:rPr lang="en-US" altLang="zh-CN" i="1" smtClean="0">
                                              <a:latin typeface="Cambria Math" panose="02040503050406030204" pitchFamily="18" charset="0"/>
                                            </a:rPr>
                                            <m:t>otal</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a:rPr lang="zh-CN" altLang="en-US" i="1">
                                              <a:latin typeface="Cambria Math" panose="02040503050406030204" pitchFamily="18" charset="0"/>
                                            </a:rPr>
                                            <m:t>𝑤</m:t>
                                          </m:r>
                                          <m:r>
                                            <m:rPr>
                                              <m:sty m:val="p"/>
                                            </m:rPr>
                                            <a:rPr lang="en-US" altLang="zh-CN" i="1" smtClean="0">
                                              <a:latin typeface="Cambria Math" panose="02040503050406030204" pitchFamily="18" charset="0"/>
                                            </a:rPr>
                                            <m:t>armup</m:t>
                                          </m:r>
                                        </m:sub>
                                      </m:sSub>
                                    </m:den>
                                  </m:f>
                                </m:e>
                              </m:d>
                            </m:e>
                          </m:func>
                        </m:e>
                      </m:d>
                    </m:oMath>
                  </m:oMathPara>
                </a14:m>
                <a:endParaRPr lang="zh-CN" altLang="en-US" dirty="0"/>
              </a:p>
            </p:txBody>
          </p:sp>
        </mc:Choice>
        <mc:Fallback>
          <p:sp>
            <p:nvSpPr>
              <p:cNvPr id="13" name="文本框 12">
                <a:extLst>
                  <a:ext uri="{FF2B5EF4-FFF2-40B4-BE49-F238E27FC236}">
                    <a16:creationId xmlns:a16="http://schemas.microsoft.com/office/drawing/2014/main" id="{29BC637B-E26D-EF2F-3505-E1B8DEB9C801}"/>
                  </a:ext>
                </a:extLst>
              </p:cNvPr>
              <p:cNvSpPr txBox="1">
                <a:spLocks noRot="1" noChangeAspect="1" noMove="1" noResize="1" noEditPoints="1" noAdjustHandles="1" noChangeArrowheads="1" noChangeShapeType="1" noTextEdit="1"/>
              </p:cNvSpPr>
              <p:nvPr/>
            </p:nvSpPr>
            <p:spPr>
              <a:xfrm>
                <a:off x="5598795" y="5455309"/>
                <a:ext cx="3616183" cy="58285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a:extLst>
                  <a:ext uri="{FF2B5EF4-FFF2-40B4-BE49-F238E27FC236}">
                    <a16:creationId xmlns:a16="http://schemas.microsoft.com/office/drawing/2014/main" id="{E31CFD22-9103-DD86-6170-2F4C68CE3381}"/>
                  </a:ext>
                </a:extLst>
              </p:cNvPr>
              <p:cNvSpPr txBox="1"/>
              <p:nvPr/>
            </p:nvSpPr>
            <p:spPr>
              <a:xfrm>
                <a:off x="5653089" y="3413402"/>
                <a:ext cx="4532312" cy="430887"/>
              </a:xfrm>
              <a:prstGeom prst="rect">
                <a:avLst/>
              </a:prstGeom>
              <a:noFill/>
            </p:spPr>
            <p:txBody>
              <a:bodyPr wrap="square" rtlCol="0">
                <a:spAutoFit/>
              </a:bodyPr>
              <a:lstStyle/>
              <a:p>
                <a:r>
                  <a:rPr lang="zh-CN" altLang="en-US" sz="1100" dirty="0">
                    <a:latin typeface="+mn-lt"/>
                  </a:rPr>
                  <a:t>余弦退火：基于</a:t>
                </a:r>
                <a:r>
                  <a:rPr lang="en-US" altLang="zh-CN" sz="1100" dirty="0" err="1">
                    <a:latin typeface="+mn-lt"/>
                  </a:rPr>
                  <a:t>cosx</a:t>
                </a:r>
                <a:r>
                  <a:rPr lang="zh-CN" altLang="en-US" sz="1100" dirty="0">
                    <a:latin typeface="+mn-lt"/>
                  </a:rPr>
                  <a:t>，其值域为</a:t>
                </a:r>
                <a:r>
                  <a:rPr lang="en-US" altLang="zh-CN" sz="1100" dirty="0">
                    <a:latin typeface="+mn-lt"/>
                  </a:rPr>
                  <a:t>[0,</a:t>
                </a:r>
                <a14:m>
                  <m:oMath xmlns:m="http://schemas.openxmlformats.org/officeDocument/2006/math">
                    <m:r>
                      <a:rPr lang="en-US" altLang="zh-CN" sz="1100" b="0" i="1" smtClean="0">
                        <a:latin typeface="+mn-lt"/>
                      </a:rPr>
                      <m:t>𝜋</m:t>
                    </m:r>
                  </m:oMath>
                </a14:m>
                <a:r>
                  <a:rPr lang="en-US" altLang="zh-CN" sz="1100" dirty="0">
                    <a:latin typeface="+mn-lt"/>
                  </a:rPr>
                  <a:t>]</a:t>
                </a:r>
                <a:r>
                  <a:rPr lang="zh-CN" altLang="en-US" sz="1100" dirty="0">
                    <a:latin typeface="+mn-lt"/>
                  </a:rPr>
                  <a:t>区间刚好从</a:t>
                </a:r>
                <a:r>
                  <a:rPr lang="en-US" altLang="zh-CN" sz="1100" dirty="0">
                    <a:latin typeface="+mn-lt"/>
                  </a:rPr>
                  <a:t>1</a:t>
                </a:r>
                <a:r>
                  <a:rPr lang="zh-CN" altLang="en-US" sz="1100" dirty="0">
                    <a:latin typeface="+mn-lt"/>
                  </a:rPr>
                  <a:t>平滑到</a:t>
                </a:r>
                <a:r>
                  <a:rPr lang="en-US" altLang="zh-CN" sz="1100" dirty="0">
                    <a:latin typeface="+mn-lt"/>
                  </a:rPr>
                  <a:t>-1</a:t>
                </a:r>
                <a:r>
                  <a:rPr lang="zh-CN" altLang="en-US" sz="1100" dirty="0">
                    <a:latin typeface="+mn-lt"/>
                  </a:rPr>
                  <a:t>，通过缩放位移，可以把</a:t>
                </a:r>
                <a14:m>
                  <m:oMath xmlns:m="http://schemas.openxmlformats.org/officeDocument/2006/math">
                    <m:sSub>
                      <m:sSubPr>
                        <m:ctrlPr>
                          <a:rPr lang="zh-CN" altLang="en-US" sz="1100" dirty="0" smtClean="0">
                            <a:latin typeface="+mn-lt"/>
                          </a:rPr>
                        </m:ctrlPr>
                      </m:sSubPr>
                      <m:e>
                        <m:r>
                          <a:rPr lang="zh-CN" altLang="en-US" sz="1100" b="0" i="1" dirty="0" smtClean="0">
                            <a:latin typeface="+mn-lt"/>
                          </a:rPr>
                          <m:t>𝜂</m:t>
                        </m:r>
                      </m:e>
                      <m:sub>
                        <m:r>
                          <a:rPr lang="en-US" altLang="zh-CN" sz="1100" b="0" i="1" dirty="0">
                            <a:latin typeface="+mn-lt"/>
                          </a:rPr>
                          <m:t>𝑚</m:t>
                        </m:r>
                        <m:r>
                          <a:rPr lang="zh-CN" altLang="en-US" sz="1100" b="0" i="1" dirty="0" smtClean="0">
                            <a:latin typeface="+mn-lt"/>
                          </a:rPr>
                          <m:t>𝑎𝑥</m:t>
                        </m:r>
                      </m:sub>
                    </m:sSub>
                  </m:oMath>
                </a14:m>
                <a:r>
                  <a:rPr lang="zh-CN" altLang="en-US" sz="1100" dirty="0">
                    <a:latin typeface="+mn-lt"/>
                  </a:rPr>
                  <a:t>平滑下降至</a:t>
                </a:r>
                <a:r>
                  <a:rPr lang="en-US" altLang="zh-CN" sz="1100" dirty="0">
                    <a:latin typeface="+mn-lt"/>
                  </a:rPr>
                  <a:t>0</a:t>
                </a:r>
                <a:endParaRPr lang="zh-CN" altLang="en-US" sz="1100" dirty="0">
                  <a:latin typeface="+mn-lt"/>
                </a:endParaRPr>
              </a:p>
            </p:txBody>
          </p:sp>
        </mc:Choice>
        <mc:Fallback>
          <p:sp>
            <p:nvSpPr>
              <p:cNvPr id="14" name="文本框 13">
                <a:extLst>
                  <a:ext uri="{FF2B5EF4-FFF2-40B4-BE49-F238E27FC236}">
                    <a16:creationId xmlns:a16="http://schemas.microsoft.com/office/drawing/2014/main" id="{E31CFD22-9103-DD86-6170-2F4C68CE3381}"/>
                  </a:ext>
                </a:extLst>
              </p:cNvPr>
              <p:cNvSpPr txBox="1">
                <a:spLocks noRot="1" noChangeAspect="1" noMove="1" noResize="1" noEditPoints="1" noAdjustHandles="1" noChangeArrowheads="1" noChangeShapeType="1" noTextEdit="1"/>
              </p:cNvSpPr>
              <p:nvPr/>
            </p:nvSpPr>
            <p:spPr>
              <a:xfrm>
                <a:off x="5653089" y="3413402"/>
                <a:ext cx="4532312" cy="430887"/>
              </a:xfrm>
              <a:prstGeom prst="rect">
                <a:avLst/>
              </a:prstGeom>
              <a:blipFill>
                <a:blip r:embed="rId6"/>
                <a:stretch>
                  <a:fillRect t="-1408" b="-985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a:extLst>
                  <a:ext uri="{FF2B5EF4-FFF2-40B4-BE49-F238E27FC236}">
                    <a16:creationId xmlns:a16="http://schemas.microsoft.com/office/drawing/2014/main" id="{0C2ECA83-2D2D-EEF4-3BAA-92092DB0547F}"/>
                  </a:ext>
                </a:extLst>
              </p:cNvPr>
              <p:cNvSpPr txBox="1"/>
              <p:nvPr/>
            </p:nvSpPr>
            <p:spPr>
              <a:xfrm>
                <a:off x="5771811" y="4126544"/>
                <a:ext cx="1332031" cy="23461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zh-CN" altLang="en-US" smtClean="0">
                              <a:latin typeface="Cambria Math" panose="02040503050406030204" pitchFamily="18" charset="0"/>
                            </a:rPr>
                          </m:ctrlPr>
                        </m:sSupPr>
                        <m:e>
                          <m:r>
                            <a:rPr lang="zh-CN" altLang="en-US" i="1">
                              <a:latin typeface="Cambria Math" panose="02040503050406030204" pitchFamily="18" charset="0"/>
                            </a:rPr>
                            <m:t>𝑡</m:t>
                          </m:r>
                        </m:e>
                        <m:sup>
                          <m:r>
                            <a:rPr lang="zh-CN" altLang="en-US" i="0">
                              <a:latin typeface="Cambria Math" panose="02040503050406030204" pitchFamily="18" charset="0"/>
                            </a:rPr>
                            <m:t>′</m:t>
                          </m:r>
                        </m:sup>
                      </m:sSup>
                      <m:r>
                        <a:rPr lang="zh-CN" altLang="en-US" i="0">
                          <a:latin typeface="Cambria Math" panose="02040503050406030204" pitchFamily="18" charset="0"/>
                        </a:rPr>
                        <m:t>=</m:t>
                      </m:r>
                      <m:r>
                        <a:rPr lang="zh-CN" altLang="en-US" i="1">
                          <a:latin typeface="Cambria Math" panose="02040503050406030204" pitchFamily="18" charset="0"/>
                        </a:rPr>
                        <m:t>𝑡</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𝑇</m:t>
                          </m:r>
                        </m:e>
                        <m:sub>
                          <m:r>
                            <m:rPr>
                              <m:sty m:val="p"/>
                            </m:rPr>
                            <a:rPr lang="en-US" altLang="zh-CN" i="1" smtClean="0">
                              <a:latin typeface="Cambria Math" panose="02040503050406030204" pitchFamily="18" charset="0"/>
                            </a:rPr>
                            <m:t>warmup</m:t>
                          </m:r>
                        </m:sub>
                      </m:sSub>
                    </m:oMath>
                  </m:oMathPara>
                </a14:m>
                <a:endParaRPr lang="zh-CN" altLang="en-US" dirty="0"/>
              </a:p>
            </p:txBody>
          </p:sp>
        </mc:Choice>
        <mc:Fallback>
          <p:sp>
            <p:nvSpPr>
              <p:cNvPr id="15" name="文本框 14">
                <a:extLst>
                  <a:ext uri="{FF2B5EF4-FFF2-40B4-BE49-F238E27FC236}">
                    <a16:creationId xmlns:a16="http://schemas.microsoft.com/office/drawing/2014/main" id="{0C2ECA83-2D2D-EEF4-3BAA-92092DB0547F}"/>
                  </a:ext>
                </a:extLst>
              </p:cNvPr>
              <p:cNvSpPr txBox="1">
                <a:spLocks noRot="1" noChangeAspect="1" noMove="1" noResize="1" noEditPoints="1" noAdjustHandles="1" noChangeArrowheads="1" noChangeShapeType="1" noTextEdit="1"/>
              </p:cNvSpPr>
              <p:nvPr/>
            </p:nvSpPr>
            <p:spPr>
              <a:xfrm>
                <a:off x="5771811" y="4126544"/>
                <a:ext cx="1332031" cy="234616"/>
              </a:xfrm>
              <a:prstGeom prst="rect">
                <a:avLst/>
              </a:prstGeom>
              <a:blipFill>
                <a:blip r:embed="rId7"/>
                <a:stretch>
                  <a:fillRect l="-2294" b="-18421"/>
                </a:stretch>
              </a:blipFill>
            </p:spPr>
            <p:txBody>
              <a:bodyPr/>
              <a:lstStyle/>
              <a:p>
                <a:r>
                  <a:rPr lang="zh-CN" altLang="en-US">
                    <a:noFill/>
                  </a:rPr>
                  <a:t> </a:t>
                </a:r>
              </a:p>
            </p:txBody>
          </p:sp>
        </mc:Fallback>
      </mc:AlternateContent>
      <p:sp>
        <p:nvSpPr>
          <p:cNvPr id="16" name="AutoShape 2" descr="展示预热加余弦退火的学习率调度完整曲线及相关参数。">
            <a:extLst>
              <a:ext uri="{FF2B5EF4-FFF2-40B4-BE49-F238E27FC236}">
                <a16:creationId xmlns:a16="http://schemas.microsoft.com/office/drawing/2014/main" id="{11A2D74E-10F5-DDFE-5F0E-F56752E1501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8" name="图片 17">
            <a:extLst>
              <a:ext uri="{FF2B5EF4-FFF2-40B4-BE49-F238E27FC236}">
                <a16:creationId xmlns:a16="http://schemas.microsoft.com/office/drawing/2014/main" id="{9DC82407-4C8B-EC32-6371-555EAACCA208}"/>
              </a:ext>
            </a:extLst>
          </p:cNvPr>
          <p:cNvPicPr>
            <a:picLocks noChangeAspect="1"/>
          </p:cNvPicPr>
          <p:nvPr/>
        </p:nvPicPr>
        <p:blipFill>
          <a:blip r:embed="rId8"/>
          <a:stretch>
            <a:fillRect/>
          </a:stretch>
        </p:blipFill>
        <p:spPr>
          <a:xfrm>
            <a:off x="9214978" y="4202359"/>
            <a:ext cx="2811779" cy="169941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68907" y="282300"/>
            <a:ext cx="5344795" cy="2315000"/>
          </a:xfrm>
          <a:prstGeom prst="rect">
            <a:avLst/>
          </a:prstGeom>
        </p:spPr>
      </p:pic>
      <p:pic>
        <p:nvPicPr>
          <p:cNvPr id="4" name="图片 3"/>
          <p:cNvPicPr>
            <a:picLocks noChangeAspect="1"/>
          </p:cNvPicPr>
          <p:nvPr/>
        </p:nvPicPr>
        <p:blipFill>
          <a:blip r:embed="rId3"/>
          <a:stretch>
            <a:fillRect/>
          </a:stretch>
        </p:blipFill>
        <p:spPr>
          <a:xfrm>
            <a:off x="6096000" y="57322"/>
            <a:ext cx="4839970" cy="2219960"/>
          </a:xfrm>
          <a:prstGeom prst="rect">
            <a:avLst/>
          </a:prstGeom>
        </p:spPr>
      </p:pic>
      <p:pic>
        <p:nvPicPr>
          <p:cNvPr id="6" name="图片 5"/>
          <p:cNvPicPr>
            <a:picLocks noChangeAspect="1"/>
          </p:cNvPicPr>
          <p:nvPr/>
        </p:nvPicPr>
        <p:blipFill>
          <a:blip r:embed="rId4"/>
          <a:stretch>
            <a:fillRect/>
          </a:stretch>
        </p:blipFill>
        <p:spPr>
          <a:xfrm>
            <a:off x="541238" y="4849506"/>
            <a:ext cx="4004627" cy="788655"/>
          </a:xfrm>
          <a:prstGeom prst="rect">
            <a:avLst/>
          </a:prstGeom>
        </p:spPr>
      </p:pic>
      <p:sp>
        <p:nvSpPr>
          <p:cNvPr id="3" name="文本框 2">
            <a:extLst>
              <a:ext uri="{FF2B5EF4-FFF2-40B4-BE49-F238E27FC236}">
                <a16:creationId xmlns:a16="http://schemas.microsoft.com/office/drawing/2014/main" id="{2F0E70CC-A824-2CEF-BC2C-FC463A4E1420}"/>
              </a:ext>
            </a:extLst>
          </p:cNvPr>
          <p:cNvSpPr txBox="1"/>
          <p:nvPr/>
        </p:nvSpPr>
        <p:spPr>
          <a:xfrm>
            <a:off x="541238" y="2548498"/>
            <a:ext cx="4800131" cy="2446824"/>
          </a:xfrm>
          <a:prstGeom prst="rect">
            <a:avLst/>
          </a:prstGeom>
          <a:noFill/>
        </p:spPr>
        <p:txBody>
          <a:bodyPr wrap="square" rtlCol="0">
            <a:spAutoFit/>
          </a:bodyPr>
          <a:lstStyle/>
          <a:p>
            <a:r>
              <a:rPr lang="en-US" altLang="zh-CN" sz="750" dirty="0"/>
              <a:t>GPT-1 </a:t>
            </a:r>
            <a:r>
              <a:rPr lang="zh-CN" altLang="en-US" sz="750" dirty="0"/>
              <a:t>展示了：一个单向</a:t>
            </a:r>
            <a:r>
              <a:rPr lang="en-US" altLang="zh-CN" sz="750" dirty="0"/>
              <a:t>Transformer</a:t>
            </a:r>
            <a:r>
              <a:rPr lang="zh-CN" altLang="en-US" sz="750" dirty="0"/>
              <a:t>语言模型，在预训练后，仅通过输入格式的改造和极小的输出层，即可统一适配分类、蕴含、相似度和多项选择等多种</a:t>
            </a:r>
            <a:r>
              <a:rPr lang="en-US" altLang="zh-CN" sz="750" dirty="0"/>
              <a:t>NLU</a:t>
            </a:r>
            <a:r>
              <a:rPr lang="zh-CN" altLang="en-US" sz="750" dirty="0"/>
              <a:t>任务，验证了“预训练</a:t>
            </a:r>
            <a:r>
              <a:rPr lang="en-US" altLang="zh-CN" sz="750" dirty="0"/>
              <a:t>+</a:t>
            </a:r>
            <a:r>
              <a:rPr lang="zh-CN" altLang="en-US" sz="750" dirty="0"/>
              <a:t>微调”范式的通用性。</a:t>
            </a:r>
            <a:endParaRPr lang="en-US" altLang="zh-CN" sz="750" dirty="0"/>
          </a:p>
          <a:p>
            <a:r>
              <a:rPr lang="en-US" altLang="zh-CN" sz="750" b="1" dirty="0"/>
              <a:t>1. Classification</a:t>
            </a:r>
            <a:r>
              <a:rPr lang="zh-CN" altLang="en-US" sz="750" b="1" dirty="0"/>
              <a:t>（文本分类）</a:t>
            </a:r>
          </a:p>
          <a:p>
            <a:r>
              <a:rPr lang="zh-CN" altLang="en-US" sz="750" b="1" dirty="0"/>
              <a:t>输入</a:t>
            </a:r>
            <a:r>
              <a:rPr lang="zh-CN" altLang="en-US" sz="750" dirty="0"/>
              <a:t>：</a:t>
            </a:r>
            <a:r>
              <a:rPr lang="en-US" altLang="zh-CN" sz="750" dirty="0"/>
              <a:t>Start + Text + Extract</a:t>
            </a:r>
          </a:p>
          <a:p>
            <a:r>
              <a:rPr lang="zh-CN" altLang="en-US" sz="750" dirty="0"/>
              <a:t>模型读取整个文本，最后一个</a:t>
            </a:r>
            <a:r>
              <a:rPr lang="en-US" altLang="zh-CN" sz="750" dirty="0"/>
              <a:t>token</a:t>
            </a:r>
            <a:r>
              <a:rPr lang="zh-CN" altLang="en-US" sz="750" dirty="0"/>
              <a:t>（</a:t>
            </a:r>
            <a:r>
              <a:rPr lang="en-US" altLang="zh-CN" sz="750" dirty="0"/>
              <a:t>Extract</a:t>
            </a:r>
            <a:r>
              <a:rPr lang="zh-CN" altLang="en-US" sz="750" dirty="0"/>
              <a:t>位置）的隐状态 → </a:t>
            </a:r>
            <a:r>
              <a:rPr lang="en-US" altLang="zh-CN" sz="750" dirty="0"/>
              <a:t>Linear</a:t>
            </a:r>
            <a:r>
              <a:rPr lang="zh-CN" altLang="en-US" sz="750" dirty="0"/>
              <a:t>层 → 输出类别概率</a:t>
            </a:r>
          </a:p>
          <a:p>
            <a:r>
              <a:rPr lang="zh-CN" altLang="en-US" sz="750" dirty="0"/>
              <a:t>例子：情感分析、主题分类</a:t>
            </a:r>
          </a:p>
          <a:p>
            <a:r>
              <a:rPr lang="en-US" altLang="zh-CN" sz="750" b="1" dirty="0"/>
              <a:t>2. Entailment</a:t>
            </a:r>
            <a:r>
              <a:rPr lang="zh-CN" altLang="en-US" sz="750" b="1" dirty="0"/>
              <a:t>（蕴含判断）</a:t>
            </a:r>
          </a:p>
          <a:p>
            <a:r>
              <a:rPr lang="zh-CN" altLang="en-US" sz="750" b="1" dirty="0"/>
              <a:t>输入</a:t>
            </a:r>
            <a:r>
              <a:rPr lang="zh-CN" altLang="en-US" sz="750" dirty="0"/>
              <a:t>：</a:t>
            </a:r>
            <a:r>
              <a:rPr lang="en-US" altLang="zh-CN" sz="750" dirty="0"/>
              <a:t>Start + Premise + Delim + Hypothesis + Extract</a:t>
            </a:r>
          </a:p>
          <a:p>
            <a:r>
              <a:rPr lang="zh-CN" altLang="en-US" sz="750" dirty="0"/>
              <a:t>判断前提（</a:t>
            </a:r>
            <a:r>
              <a:rPr lang="en-US" altLang="zh-CN" sz="750" dirty="0"/>
              <a:t>Premise</a:t>
            </a:r>
            <a:r>
              <a:rPr lang="zh-CN" altLang="en-US" sz="750" dirty="0"/>
              <a:t>）是否蕴含假设（</a:t>
            </a:r>
            <a:r>
              <a:rPr lang="en-US" altLang="zh-CN" sz="750" dirty="0"/>
              <a:t>Hypothesis</a:t>
            </a:r>
            <a:r>
              <a:rPr lang="zh-CN" altLang="en-US" sz="750" dirty="0"/>
              <a:t>）</a:t>
            </a:r>
          </a:p>
          <a:p>
            <a:r>
              <a:rPr lang="zh-CN" altLang="en-US" sz="750" dirty="0"/>
              <a:t>分隔符（</a:t>
            </a:r>
            <a:r>
              <a:rPr lang="en-US" altLang="zh-CN" sz="750" dirty="0"/>
              <a:t>Delim</a:t>
            </a:r>
            <a:r>
              <a:rPr lang="zh-CN" altLang="en-US" sz="750" dirty="0"/>
              <a:t>）帮助模型区分两段文本</a:t>
            </a:r>
          </a:p>
          <a:p>
            <a:r>
              <a:rPr lang="en-US" altLang="zh-CN" sz="750" b="1" dirty="0"/>
              <a:t>3. Similarity</a:t>
            </a:r>
            <a:r>
              <a:rPr lang="zh-CN" altLang="en-US" sz="750" b="1" dirty="0"/>
              <a:t>（文本相似度）</a:t>
            </a:r>
          </a:p>
          <a:p>
            <a:r>
              <a:rPr lang="zh-CN" altLang="en-US" sz="750" dirty="0"/>
              <a:t>这是</a:t>
            </a:r>
            <a:r>
              <a:rPr lang="zh-CN" altLang="en-US" sz="750" b="1" dirty="0"/>
              <a:t>对称任务</a:t>
            </a:r>
            <a:r>
              <a:rPr lang="zh-CN" altLang="en-US" sz="750" dirty="0"/>
              <a:t>，所以模型会输入两个顺序（</a:t>
            </a:r>
            <a:r>
              <a:rPr lang="en-US" altLang="zh-CN" sz="750" dirty="0"/>
              <a:t>Text1–Text2 </a:t>
            </a:r>
            <a:r>
              <a:rPr lang="zh-CN" altLang="en-US" sz="750" dirty="0"/>
              <a:t>和 </a:t>
            </a:r>
            <a:r>
              <a:rPr lang="en-US" altLang="zh-CN" sz="750" dirty="0"/>
              <a:t>Text2–Text1</a:t>
            </a:r>
            <a:r>
              <a:rPr lang="zh-CN" altLang="en-US" sz="750" dirty="0"/>
              <a:t>）</a:t>
            </a:r>
          </a:p>
          <a:p>
            <a:r>
              <a:rPr lang="zh-CN" altLang="en-US" sz="750" dirty="0"/>
              <a:t>分别过</a:t>
            </a:r>
            <a:r>
              <a:rPr lang="en-US" altLang="zh-CN" sz="750" dirty="0"/>
              <a:t>Transformer</a:t>
            </a:r>
            <a:r>
              <a:rPr lang="zh-CN" altLang="en-US" sz="750" dirty="0"/>
              <a:t>后，将两个</a:t>
            </a:r>
            <a:r>
              <a:rPr lang="en-US" altLang="zh-CN" sz="750" dirty="0"/>
              <a:t>Extract</a:t>
            </a:r>
            <a:r>
              <a:rPr lang="zh-CN" altLang="en-US" sz="750" dirty="0"/>
              <a:t>位置的输出相加 → </a:t>
            </a:r>
            <a:r>
              <a:rPr lang="en-US" altLang="zh-CN" sz="750" dirty="0"/>
              <a:t>Linear → </a:t>
            </a:r>
            <a:r>
              <a:rPr lang="zh-CN" altLang="en-US" sz="750" dirty="0"/>
              <a:t>相似度分数</a:t>
            </a:r>
          </a:p>
          <a:p>
            <a:r>
              <a:rPr lang="zh-CN" altLang="en-US" sz="750" dirty="0"/>
              <a:t>为什么两个顺序都要做？因为相似度是对称的，这样可以给模型更多信息（</a:t>
            </a:r>
            <a:r>
              <a:rPr lang="en-US" altLang="zh-CN" sz="750" dirty="0"/>
              <a:t>GPT-1</a:t>
            </a:r>
            <a:r>
              <a:rPr lang="zh-CN" altLang="en-US" sz="750" dirty="0"/>
              <a:t>是单向模型，顺序会带来</a:t>
            </a:r>
            <a:r>
              <a:rPr lang="en-US" altLang="zh-CN" sz="750" dirty="0"/>
              <a:t>bias</a:t>
            </a:r>
            <a:r>
              <a:rPr lang="zh-CN" altLang="en-US" sz="750" dirty="0"/>
              <a:t>）</a:t>
            </a:r>
          </a:p>
          <a:p>
            <a:r>
              <a:rPr lang="en-US" altLang="zh-CN" sz="750" b="1" dirty="0"/>
              <a:t>4. Multiple Choice</a:t>
            </a:r>
            <a:r>
              <a:rPr lang="zh-CN" altLang="en-US" sz="750" b="1" dirty="0"/>
              <a:t>（多项选择）</a:t>
            </a:r>
          </a:p>
          <a:p>
            <a:r>
              <a:rPr lang="zh-CN" altLang="en-US" sz="750" dirty="0"/>
              <a:t>输入：</a:t>
            </a:r>
            <a:r>
              <a:rPr lang="en-US" altLang="zh-CN" sz="750" dirty="0"/>
              <a:t>Context + Delim + </a:t>
            </a:r>
            <a:r>
              <a:rPr lang="zh-CN" altLang="en-US" sz="750" dirty="0"/>
              <a:t>每一个候选答案（</a:t>
            </a:r>
            <a:r>
              <a:rPr lang="en-US" altLang="zh-CN" sz="750" dirty="0"/>
              <a:t>Answer1...</a:t>
            </a:r>
            <a:r>
              <a:rPr lang="en-US" altLang="zh-CN" sz="750" dirty="0" err="1"/>
              <a:t>AnswerN</a:t>
            </a:r>
            <a:r>
              <a:rPr lang="zh-CN" altLang="en-US" sz="750" dirty="0"/>
              <a:t>）</a:t>
            </a:r>
          </a:p>
          <a:p>
            <a:r>
              <a:rPr lang="zh-CN" altLang="en-US" sz="750" dirty="0"/>
              <a:t>每个选择独立过</a:t>
            </a:r>
            <a:r>
              <a:rPr lang="en-US" altLang="zh-CN" sz="750" dirty="0"/>
              <a:t>Transformer</a:t>
            </a:r>
          </a:p>
          <a:p>
            <a:r>
              <a:rPr lang="zh-CN" altLang="en-US" sz="750" dirty="0"/>
              <a:t>每个</a:t>
            </a:r>
            <a:r>
              <a:rPr lang="en-US" altLang="zh-CN" sz="750" dirty="0"/>
              <a:t>Extract</a:t>
            </a:r>
            <a:r>
              <a:rPr lang="zh-CN" altLang="en-US" sz="750" dirty="0"/>
              <a:t>位置 → </a:t>
            </a:r>
            <a:r>
              <a:rPr lang="en-US" altLang="zh-CN" sz="750" dirty="0"/>
              <a:t>Linear → </a:t>
            </a:r>
            <a:r>
              <a:rPr lang="zh-CN" altLang="en-US" sz="750" dirty="0"/>
              <a:t>分数 → </a:t>
            </a:r>
            <a:r>
              <a:rPr lang="en-US" altLang="zh-CN" sz="750" dirty="0" err="1"/>
              <a:t>Softmax</a:t>
            </a:r>
            <a:r>
              <a:rPr lang="en-US" altLang="zh-CN" sz="750" dirty="0"/>
              <a:t> </a:t>
            </a:r>
            <a:r>
              <a:rPr lang="zh-CN" altLang="en-US" sz="750" dirty="0"/>
              <a:t>选出最高分答案</a:t>
            </a:r>
          </a:p>
          <a:p>
            <a:endParaRPr lang="zh-CN" altLang="en-US" sz="1050" dirty="0"/>
          </a:p>
        </p:txBody>
      </p:sp>
      <p:pic>
        <p:nvPicPr>
          <p:cNvPr id="8" name="图片 7">
            <a:extLst>
              <a:ext uri="{FF2B5EF4-FFF2-40B4-BE49-F238E27FC236}">
                <a16:creationId xmlns:a16="http://schemas.microsoft.com/office/drawing/2014/main" id="{AAB39427-B2E8-5E8F-A41D-CC8AA9971C04}"/>
              </a:ext>
            </a:extLst>
          </p:cNvPr>
          <p:cNvPicPr>
            <a:picLocks noChangeAspect="1"/>
          </p:cNvPicPr>
          <p:nvPr/>
        </p:nvPicPr>
        <p:blipFill>
          <a:blip r:embed="rId5"/>
          <a:stretch>
            <a:fillRect/>
          </a:stretch>
        </p:blipFill>
        <p:spPr>
          <a:xfrm>
            <a:off x="6196331" y="3812262"/>
            <a:ext cx="5373052" cy="1506855"/>
          </a:xfrm>
          <a:prstGeom prst="rect">
            <a:avLst/>
          </a:prstGeom>
        </p:spPr>
      </p:pic>
      <p:sp>
        <p:nvSpPr>
          <p:cNvPr id="9" name="文本框 8">
            <a:extLst>
              <a:ext uri="{FF2B5EF4-FFF2-40B4-BE49-F238E27FC236}">
                <a16:creationId xmlns:a16="http://schemas.microsoft.com/office/drawing/2014/main" id="{8EDB498F-0586-9395-102F-3D30B7E2B970}"/>
              </a:ext>
            </a:extLst>
          </p:cNvPr>
          <p:cNvSpPr txBox="1"/>
          <p:nvPr/>
        </p:nvSpPr>
        <p:spPr>
          <a:xfrm>
            <a:off x="6196331" y="5319117"/>
            <a:ext cx="5872513" cy="1569660"/>
          </a:xfrm>
          <a:prstGeom prst="rect">
            <a:avLst/>
          </a:prstGeom>
          <a:noFill/>
        </p:spPr>
        <p:txBody>
          <a:bodyPr wrap="square" rtlCol="0">
            <a:spAutoFit/>
          </a:bodyPr>
          <a:lstStyle/>
          <a:p>
            <a:r>
              <a:rPr lang="zh-CN" altLang="en-US" sz="1000" b="1" dirty="0"/>
              <a:t>消融实验：</a:t>
            </a:r>
            <a:endParaRPr lang="en-US" altLang="zh-CN" sz="1000" b="1" dirty="0"/>
          </a:p>
          <a:p>
            <a:r>
              <a:rPr lang="en-US" altLang="zh-CN" sz="800" dirty="0"/>
              <a:t>Transformer w/ aux LM (full)</a:t>
            </a:r>
            <a:r>
              <a:rPr lang="zh-CN" altLang="en-US" sz="800" dirty="0"/>
              <a:t>：完整模型（</a:t>
            </a:r>
            <a:r>
              <a:rPr lang="en-US" altLang="zh-CN" sz="800" dirty="0"/>
              <a:t>Transformer + </a:t>
            </a:r>
            <a:r>
              <a:rPr lang="zh-CN" altLang="en-US" sz="800" dirty="0"/>
              <a:t>预训练 </a:t>
            </a:r>
            <a:r>
              <a:rPr lang="en-US" altLang="zh-CN" sz="800" dirty="0"/>
              <a:t>+ </a:t>
            </a:r>
            <a:r>
              <a:rPr lang="zh-CN" altLang="en-US" sz="800" dirty="0"/>
              <a:t>辅助语言模型目标）</a:t>
            </a:r>
          </a:p>
          <a:p>
            <a:r>
              <a:rPr lang="en-US" altLang="zh-CN" sz="800" dirty="0"/>
              <a:t>Transformer w/o pre-training</a:t>
            </a:r>
            <a:r>
              <a:rPr lang="zh-CN" altLang="en-US" sz="800" dirty="0"/>
              <a:t>：去掉预训练（随机初始化）</a:t>
            </a:r>
          </a:p>
          <a:p>
            <a:r>
              <a:rPr lang="en-US" altLang="zh-CN" sz="800" dirty="0"/>
              <a:t>Transformer w/o aux LM</a:t>
            </a:r>
            <a:r>
              <a:rPr lang="zh-CN" altLang="en-US" sz="800" dirty="0"/>
              <a:t>：去掉辅助语言模型（只有主任务训练）</a:t>
            </a:r>
          </a:p>
          <a:p>
            <a:r>
              <a:rPr lang="en-US" altLang="zh-CN" sz="800" dirty="0"/>
              <a:t>LSTM w/ aux LM</a:t>
            </a:r>
            <a:r>
              <a:rPr lang="zh-CN" altLang="en-US" sz="800" dirty="0"/>
              <a:t>：用</a:t>
            </a:r>
            <a:r>
              <a:rPr lang="en-US" altLang="zh-CN" sz="800" dirty="0"/>
              <a:t>LSTM</a:t>
            </a:r>
            <a:r>
              <a:rPr lang="zh-CN" altLang="en-US" sz="800" dirty="0"/>
              <a:t>替代</a:t>
            </a:r>
            <a:r>
              <a:rPr lang="en-US" altLang="zh-CN" sz="800" dirty="0"/>
              <a:t>Transformer</a:t>
            </a:r>
            <a:r>
              <a:rPr lang="zh-CN" altLang="en-US" sz="800" dirty="0"/>
              <a:t>，但有预训练</a:t>
            </a:r>
            <a:r>
              <a:rPr lang="en-US" altLang="zh-CN" sz="800" dirty="0"/>
              <a:t>+</a:t>
            </a:r>
            <a:r>
              <a:rPr lang="zh-CN" altLang="en-US" sz="800" dirty="0"/>
              <a:t>辅助</a:t>
            </a:r>
            <a:r>
              <a:rPr lang="en-US" altLang="zh-CN" sz="800" dirty="0"/>
              <a:t>LM</a:t>
            </a:r>
          </a:p>
          <a:p>
            <a:r>
              <a:rPr lang="en-US" altLang="zh-CN" sz="800" dirty="0"/>
              <a:t>(1)</a:t>
            </a:r>
            <a:r>
              <a:rPr lang="zh-CN" altLang="en-US" sz="800" dirty="0"/>
              <a:t>预训练是性能的基础，没有预训练，模型几乎在所有任务上都崩溃，特别是对语言结构敏感的任务。</a:t>
            </a:r>
          </a:p>
          <a:p>
            <a:r>
              <a:rPr lang="en-US" altLang="zh-CN" sz="800" dirty="0"/>
              <a:t>(2)</a:t>
            </a:r>
            <a:r>
              <a:rPr lang="zh-CN" altLang="en-US" sz="800" dirty="0"/>
              <a:t>辅助语言模型目标作用有限且两面性：它并非普遍有益，但能帮助部分推理任务，整体不影响平均分，可以视为一种正则化或额外知识注入。</a:t>
            </a:r>
          </a:p>
          <a:p>
            <a:r>
              <a:rPr lang="en-US" altLang="zh-CN" sz="800" dirty="0"/>
              <a:t>(3)Transformer </a:t>
            </a:r>
            <a:r>
              <a:rPr lang="zh-CN" altLang="en-US" sz="800" dirty="0"/>
              <a:t>是比 </a:t>
            </a:r>
            <a:r>
              <a:rPr lang="en-US" altLang="zh-CN" sz="800" dirty="0"/>
              <a:t>LSTM </a:t>
            </a:r>
            <a:r>
              <a:rPr lang="zh-CN" altLang="en-US" sz="800" dirty="0"/>
              <a:t>更强大的编码器</a:t>
            </a:r>
            <a:r>
              <a:rPr lang="en-US" altLang="zh-CN" sz="800" dirty="0"/>
              <a:t>,</a:t>
            </a:r>
            <a:r>
              <a:rPr lang="zh-CN" altLang="en-US" sz="800" dirty="0"/>
              <a:t>即使两者都有预训练和 </a:t>
            </a:r>
            <a:r>
              <a:rPr lang="en-US" altLang="zh-CN" sz="800" dirty="0"/>
              <a:t>aux LM</a:t>
            </a:r>
            <a:r>
              <a:rPr lang="zh-CN" altLang="en-US" sz="800" dirty="0"/>
              <a:t>，</a:t>
            </a:r>
            <a:r>
              <a:rPr lang="en-US" altLang="zh-CN" sz="800" dirty="0"/>
              <a:t>Transformer </a:t>
            </a:r>
            <a:r>
              <a:rPr lang="zh-CN" altLang="en-US" sz="800" dirty="0"/>
              <a:t>仍然获得明显更高的平均分，证明其自注意力机制更适合自然语言理解。</a:t>
            </a:r>
          </a:p>
          <a:p>
            <a:endParaRPr lang="zh-CN" altLang="en-US" dirty="0"/>
          </a:p>
        </p:txBody>
      </p:sp>
      <p:sp>
        <p:nvSpPr>
          <p:cNvPr id="10" name="文本框 9">
            <a:extLst>
              <a:ext uri="{FF2B5EF4-FFF2-40B4-BE49-F238E27FC236}">
                <a16:creationId xmlns:a16="http://schemas.microsoft.com/office/drawing/2014/main" id="{5A52B9AB-879C-1AD3-E8D6-3599BC7A3458}"/>
              </a:ext>
            </a:extLst>
          </p:cNvPr>
          <p:cNvSpPr txBox="1"/>
          <p:nvPr/>
        </p:nvSpPr>
        <p:spPr>
          <a:xfrm>
            <a:off x="10935970" y="172179"/>
            <a:ext cx="1103004" cy="2308324"/>
          </a:xfrm>
          <a:prstGeom prst="rect">
            <a:avLst/>
          </a:prstGeom>
          <a:noFill/>
        </p:spPr>
        <p:txBody>
          <a:bodyPr wrap="square" rtlCol="0">
            <a:spAutoFit/>
          </a:bodyPr>
          <a:lstStyle/>
          <a:p>
            <a:r>
              <a:rPr lang="en-US" altLang="zh-CN" sz="800" dirty="0"/>
              <a:t>RACE(</a:t>
            </a:r>
            <a:r>
              <a:rPr lang="zh-CN" altLang="en-US" sz="800" dirty="0"/>
              <a:t>给一篇文章 </a:t>
            </a:r>
            <a:r>
              <a:rPr lang="en-US" altLang="zh-CN" sz="800" dirty="0"/>
              <a:t>+ 1 </a:t>
            </a:r>
            <a:r>
              <a:rPr lang="zh-CN" altLang="en-US" sz="800" dirty="0"/>
              <a:t>个问题 </a:t>
            </a:r>
            <a:r>
              <a:rPr lang="en-US" altLang="zh-CN" sz="800" dirty="0"/>
              <a:t>+ 4 </a:t>
            </a:r>
            <a:r>
              <a:rPr lang="zh-CN" altLang="en-US" sz="800" dirty="0"/>
              <a:t>个选项，模型选出正确答案</a:t>
            </a:r>
            <a:r>
              <a:rPr lang="en-US" altLang="zh-CN" sz="800" dirty="0"/>
              <a:t>)</a:t>
            </a:r>
          </a:p>
          <a:p>
            <a:r>
              <a:rPr lang="en-US" altLang="zh-CN" sz="800" dirty="0" err="1"/>
              <a:t>MultiNLI</a:t>
            </a:r>
            <a:r>
              <a:rPr lang="en-US" altLang="zh-CN" sz="800" dirty="0"/>
              <a:t>(</a:t>
            </a:r>
            <a:r>
              <a:rPr lang="zh-CN" altLang="en-US" sz="800" dirty="0"/>
              <a:t>给前提句 </a:t>
            </a:r>
            <a:r>
              <a:rPr lang="en-US" altLang="zh-CN" sz="800" dirty="0"/>
              <a:t>+ </a:t>
            </a:r>
            <a:r>
              <a:rPr lang="zh-CN" altLang="en-US" sz="800" dirty="0"/>
              <a:t>假设句，模型判断二者关系是蕴含，矛盾，中立）</a:t>
            </a:r>
            <a:endParaRPr lang="en-US" altLang="zh-CN" sz="800" dirty="0"/>
          </a:p>
          <a:p>
            <a:r>
              <a:rPr lang="zh-CN" altLang="en-US" sz="800" dirty="0"/>
              <a:t>蓝色：情感判断（浅层语义、词语级语义 ）                    橙色：常识性代词指代消解</a:t>
            </a:r>
            <a:endParaRPr lang="en-US" altLang="zh-CN" sz="800" dirty="0"/>
          </a:p>
          <a:p>
            <a:r>
              <a:rPr lang="zh-CN" altLang="en-US" sz="800" dirty="0"/>
              <a:t>绿色：</a:t>
            </a:r>
            <a:r>
              <a:rPr lang="en-US" altLang="zh-CN" sz="800" dirty="0"/>
              <a:t>Linguistic Acceptability </a:t>
            </a:r>
            <a:r>
              <a:rPr lang="zh-CN" altLang="en-US" sz="800" dirty="0"/>
              <a:t>语言可接受性（如</a:t>
            </a:r>
            <a:r>
              <a:rPr lang="en-US" altLang="zh-CN" sz="800" dirty="0" err="1"/>
              <a:t>CoLA</a:t>
            </a:r>
            <a:r>
              <a:rPr lang="zh-CN" altLang="en-US" sz="800" dirty="0"/>
              <a:t>）红色：</a:t>
            </a:r>
            <a:r>
              <a:rPr lang="en-US" altLang="zh-CN" sz="800" dirty="0"/>
              <a:t>Question Answering </a:t>
            </a:r>
            <a:r>
              <a:rPr lang="zh-CN" altLang="en-US" sz="800" dirty="0"/>
              <a:t>问答系统</a:t>
            </a:r>
            <a:endParaRPr lang="en-US" altLang="zh-CN" sz="800" dirty="0"/>
          </a:p>
          <a:p>
            <a:endParaRPr lang="zh-CN" altLang="en-US" sz="800" dirty="0"/>
          </a:p>
        </p:txBody>
      </p:sp>
      <mc:AlternateContent xmlns:mc="http://schemas.openxmlformats.org/markup-compatibility/2006">
        <mc:Choice xmlns:a14="http://schemas.microsoft.com/office/drawing/2010/main" Requires="a14">
          <p:sp>
            <p:nvSpPr>
              <p:cNvPr id="11" name="Rectangle 1">
                <a:extLst>
                  <a:ext uri="{FF2B5EF4-FFF2-40B4-BE49-F238E27FC236}">
                    <a16:creationId xmlns:a16="http://schemas.microsoft.com/office/drawing/2014/main" id="{06F6D7AE-6079-01C0-7E9B-54EDA4786AA2}"/>
                  </a:ext>
                </a:extLst>
              </p:cNvPr>
              <p:cNvSpPr>
                <a:spLocks noChangeArrowheads="1"/>
              </p:cNvSpPr>
              <p:nvPr/>
            </p:nvSpPr>
            <p:spPr bwMode="auto">
              <a:xfrm>
                <a:off x="6273800" y="2452674"/>
                <a:ext cx="5561363" cy="110799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zh-CN" altLang="zh-CN" sz="800" b="0" i="0" u="none" strike="noStrike" cap="none" normalizeH="0" baseline="0" dirty="0">
                    <a:ln>
                      <a:noFill/>
                    </a:ln>
                    <a:solidFill>
                      <a:srgbClr val="000000"/>
                    </a:solidFill>
                    <a:effectLst/>
                    <a:latin typeface="Arial" panose="020B0604020202020204" pitchFamily="34" charset="0"/>
                    <a:ea typeface="ui-sans-serif"/>
                  </a:rPr>
                  <a:t>Transformer 全面优于 LSTM</a:t>
                </a:r>
                <a:r>
                  <a:rPr kumimoji="0" lang="zh-CN" altLang="en-US" sz="800" b="0" i="0" u="none" strike="noStrike" cap="none" normalizeH="0" baseline="0" dirty="0">
                    <a:ln>
                      <a:noFill/>
                    </a:ln>
                    <a:solidFill>
                      <a:srgbClr val="000000"/>
                    </a:solidFill>
                    <a:effectLst/>
                    <a:latin typeface="Arial" panose="020B0604020202020204" pitchFamily="34" charset="0"/>
                    <a:ea typeface="ui-sans-serif"/>
                  </a:rPr>
                  <a:t>：</a:t>
                </a:r>
                <a:r>
                  <a:rPr kumimoji="0" lang="zh-CN" altLang="zh-CN" sz="800" b="0" i="0" u="none" strike="noStrike" cap="none" normalizeH="0" baseline="0" dirty="0">
                    <a:ln>
                      <a:noFill/>
                    </a:ln>
                    <a:solidFill>
                      <a:srgbClr val="000000"/>
                    </a:solidFill>
                    <a:effectLst/>
                    <a:latin typeface="Arial" panose="020B0604020202020204" pitchFamily="34" charset="0"/>
                    <a:ea typeface="ui-sans-serif"/>
                  </a:rPr>
                  <a:t>对所有任务，黑色实线始终高于灰色虚线。证明在预训练 + 迁移学习范式下，Transformer 架构比 LSTM 提取的通用语言特征质量更高，迁移到下游任务效果更好。</a:t>
                </a:r>
                <a:r>
                  <a:rPr lang="zh-CN" altLang="en-US" sz="800" dirty="0">
                    <a:solidFill>
                      <a:schemeClr val="tx1"/>
                    </a:solidFill>
                    <a:latin typeface="Arial" panose="020B0604020202020204" pitchFamily="34" charset="0"/>
                    <a:ea typeface="ui-sans-serif"/>
                  </a:rPr>
                  <a:t>：</a:t>
                </a:r>
                <a:r>
                  <a:rPr kumimoji="0" lang="zh-CN" altLang="zh-CN" sz="800" b="0" i="0" u="none" strike="noStrike" cap="none" normalizeH="0" baseline="0" dirty="0">
                    <a:ln>
                      <a:noFill/>
                    </a:ln>
                    <a:solidFill>
                      <a:srgbClr val="000000"/>
                    </a:solidFill>
                    <a:effectLst/>
                    <a:latin typeface="Arial" panose="020B0604020202020204" pitchFamily="34" charset="0"/>
                    <a:ea typeface="ui-sans-serif"/>
                  </a:rPr>
                  <a:t>预训练步数越多，性能整体上升，但任务差异极大 </a:t>
                </a:r>
              </a:p>
              <a:p>
                <a:pPr marL="0" marR="0" lvl="0" indent="0" algn="l" defTabSz="914400" rtl="0" eaLnBrk="0" fontAlgn="base" latinLnBrk="0" hangingPunct="0">
                  <a:lnSpc>
                    <a:spcPct val="100000"/>
                  </a:lnSpc>
                  <a:spcBef>
                    <a:spcPct val="0"/>
                  </a:spcBef>
                  <a:spcAft>
                    <a:spcPct val="0"/>
                  </a:spcAft>
                  <a:buClrTx/>
                  <a:buSzTx/>
                  <a:tabLst/>
                </a:pPr>
                <a:r>
                  <a:rPr kumimoji="0" lang="zh-CN" altLang="zh-CN" sz="800" b="0" i="0" u="none" strike="noStrike" cap="none" normalizeH="0" baseline="0" dirty="0">
                    <a:ln>
                      <a:noFill/>
                    </a:ln>
                    <a:solidFill>
                      <a:srgbClr val="000000"/>
                    </a:solidFill>
                    <a:effectLst/>
                    <a:latin typeface="Arial" panose="020B0604020202020204" pitchFamily="34" charset="0"/>
                    <a:ea typeface="ui-sans-serif"/>
                  </a:rPr>
                  <a:t>情感分析（蓝色）：收益最显著，步数超过</a:t>
                </a:r>
                <a14:m>
                  <m:oMath xmlns:m="http://schemas.openxmlformats.org/officeDocument/2006/math">
                    <m:sSup>
                      <m:sSupPr>
                        <m:ctrlPr>
                          <a:rPr kumimoji="0" lang="zh-CN" altLang="zh-CN" sz="800" b="0" i="0" u="none" strike="noStrike" cap="none" normalizeH="0" baseline="0" smtClean="0">
                            <a:ln>
                              <a:noFill/>
                            </a:ln>
                            <a:solidFill>
                              <a:srgbClr val="000000"/>
                            </a:solidFill>
                            <a:effectLst/>
                            <a:latin typeface="Cambria Math" panose="02040503050406030204" pitchFamily="18" charset="0"/>
                          </a:rPr>
                        </m:ctrlPr>
                      </m:sSupPr>
                      <m:e>
                        <m:r>
                          <a:rPr kumimoji="0" lang="zh-CN" altLang="zh-CN" sz="800" b="0" i="0" u="none" strike="noStrike" cap="none" normalizeH="0" baseline="0" smtClean="0">
                            <a:ln>
                              <a:noFill/>
                            </a:ln>
                            <a:solidFill>
                              <a:srgbClr val="000000"/>
                            </a:solidFill>
                            <a:effectLst/>
                            <a:latin typeface="Cambria Math" panose="02040503050406030204" pitchFamily="18" charset="0"/>
                          </a:rPr>
                          <m:t>10</m:t>
                        </m:r>
                      </m:e>
                      <m:sup>
                        <m:r>
                          <a:rPr kumimoji="0" lang="zh-CN" altLang="zh-CN" sz="800" b="0" i="0" u="none" strike="noStrike" cap="none" normalizeH="0" baseline="0" smtClean="0">
                            <a:ln>
                              <a:noFill/>
                            </a:ln>
                            <a:solidFill>
                              <a:srgbClr val="000000"/>
                            </a:solidFill>
                            <a:effectLst/>
                            <a:latin typeface="Cambria Math" panose="02040503050406030204" pitchFamily="18" charset="0"/>
                          </a:rPr>
                          <m:t>4</m:t>
                        </m:r>
                      </m:sup>
                    </m:sSup>
                  </m:oMath>
                </a14:m>
                <a:r>
                  <a:rPr kumimoji="0" lang="zh-CN" altLang="zh-CN" sz="800" b="0" i="0" u="none" strike="noStrike" cap="none" normalizeH="0" baseline="0" dirty="0">
                    <a:ln>
                      <a:noFill/>
                    </a:ln>
                    <a:solidFill>
                      <a:srgbClr val="000000"/>
                    </a:solidFill>
                    <a:effectLst/>
                    <a:latin typeface="Arial" panose="020B0604020202020204" pitchFamily="34" charset="0"/>
                    <a:ea typeface="ui-sans-serif"/>
                  </a:rPr>
                  <a:t>后性能爆发式增长，说明该任务极度依赖大规模预训练； </a:t>
                </a:r>
              </a:p>
              <a:p>
                <a:pPr marL="0" marR="0" lvl="0" indent="0" algn="l" defTabSz="914400" rtl="0" eaLnBrk="0" fontAlgn="base" latinLnBrk="0" hangingPunct="0">
                  <a:lnSpc>
                    <a:spcPct val="100000"/>
                  </a:lnSpc>
                  <a:spcBef>
                    <a:spcPct val="0"/>
                  </a:spcBef>
                  <a:spcAft>
                    <a:spcPct val="0"/>
                  </a:spcAft>
                  <a:buClrTx/>
                  <a:buSzTx/>
                  <a:tabLst/>
                </a:pPr>
                <a:r>
                  <a:rPr kumimoji="0" lang="zh-CN" altLang="zh-CN" sz="800" b="0" i="0" u="none" strike="noStrike" cap="none" normalizeH="0" baseline="0" dirty="0">
                    <a:ln>
                      <a:noFill/>
                    </a:ln>
                    <a:solidFill>
                      <a:srgbClr val="000000"/>
                    </a:solidFill>
                    <a:effectLst/>
                    <a:latin typeface="Arial" panose="020B0604020202020204" pitchFamily="34" charset="0"/>
                    <a:ea typeface="ui-sans-serif"/>
                  </a:rPr>
                  <a:t>Winograd 指代消解（橙色）、语言可接受性（绿色）：中等预训练步数就快速饱和，后期增长缓慢； </a:t>
                </a:r>
              </a:p>
              <a:p>
                <a:pPr marL="0" marR="0" lvl="0" indent="0" algn="l" defTabSz="914400" rtl="0" eaLnBrk="0" fontAlgn="base" latinLnBrk="0" hangingPunct="0">
                  <a:lnSpc>
                    <a:spcPct val="100000"/>
                  </a:lnSpc>
                  <a:spcBef>
                    <a:spcPct val="0"/>
                  </a:spcBef>
                  <a:spcAft>
                    <a:spcPct val="0"/>
                  </a:spcAft>
                  <a:buClrTx/>
                  <a:buSzTx/>
                  <a:tabLst/>
                </a:pPr>
                <a:r>
                  <a:rPr kumimoji="0" lang="zh-CN" altLang="zh-CN" sz="800" b="0" i="0" u="none" strike="noStrike" cap="none" normalizeH="0" baseline="0" dirty="0">
                    <a:ln>
                      <a:noFill/>
                    </a:ln>
                    <a:solidFill>
                      <a:srgbClr val="000000"/>
                    </a:solidFill>
                    <a:effectLst/>
                    <a:latin typeface="Arial" panose="020B0604020202020204" pitchFamily="34" charset="0"/>
                    <a:ea typeface="ui-sans-serif"/>
                  </a:rPr>
                  <a:t>问答系统（红色）：整体性能最低，随步数缓慢提升，是最难迁移的任务。 </a:t>
                </a:r>
              </a:p>
              <a:p>
                <a:pPr marL="0" marR="0" lvl="0" indent="0" algn="l" defTabSz="914400" rtl="0" eaLnBrk="0" fontAlgn="base" latinLnBrk="0" hangingPunct="0">
                  <a:lnSpc>
                    <a:spcPct val="100000"/>
                  </a:lnSpc>
                  <a:spcBef>
                    <a:spcPct val="0"/>
                  </a:spcBef>
                  <a:spcAft>
                    <a:spcPct val="0"/>
                  </a:spcAft>
                  <a:buClrTx/>
                  <a:buSzTx/>
                  <a:tabLst/>
                </a:pPr>
                <a:r>
                  <a:rPr kumimoji="0" lang="zh-CN" altLang="zh-CN" sz="800" b="0" i="0" u="none" strike="noStrike" cap="none" normalizeH="0" baseline="0" dirty="0">
                    <a:ln>
                      <a:noFill/>
                    </a:ln>
                    <a:solidFill>
                      <a:srgbClr val="000000"/>
                    </a:solidFill>
                    <a:effectLst/>
                    <a:latin typeface="Arial" panose="020B0604020202020204" pitchFamily="34" charset="0"/>
                    <a:ea typeface="ui-sans-serif"/>
                  </a:rPr>
                  <a:t>不同任务对预训练规模的敏感度不同</a:t>
                </a:r>
                <a:r>
                  <a:rPr kumimoji="0" lang="zh-CN" altLang="en-US" sz="800" b="0" i="0" u="none" strike="noStrike" cap="none" normalizeH="0" baseline="0" dirty="0">
                    <a:ln>
                      <a:noFill/>
                    </a:ln>
                    <a:solidFill>
                      <a:srgbClr val="000000"/>
                    </a:solidFill>
                    <a:effectLst/>
                    <a:latin typeface="Arial" panose="020B0604020202020204" pitchFamily="34" charset="0"/>
                    <a:ea typeface="ui-sans-serif"/>
                  </a:rPr>
                  <a:t>：</a:t>
                </a:r>
                <a:r>
                  <a:rPr kumimoji="0" lang="zh-CN" altLang="zh-CN" sz="800" b="0" i="0" u="none" strike="noStrike" cap="none" normalizeH="0" baseline="0" dirty="0">
                    <a:ln>
                      <a:noFill/>
                    </a:ln>
                    <a:solidFill>
                      <a:srgbClr val="000000"/>
                    </a:solidFill>
                    <a:effectLst/>
                    <a:latin typeface="Arial" panose="020B0604020202020204" pitchFamily="34" charset="0"/>
                    <a:ea typeface="ui-sans-serif"/>
                  </a:rPr>
                  <a:t>语义类任务（情感分析）受益于超大预训练；句法 / 常识类任务（指代、语言可接受性）在中小规模预训练就达到性能瓶颈；复杂推理类任务（问答）整体迁移难度最高。</a:t>
                </a:r>
                <a:r>
                  <a:rPr kumimoji="0" lang="zh-CN" altLang="zh-CN" sz="800" b="0" i="0" u="none" strike="noStrike" cap="none" normalizeH="0" baseline="0" dirty="0">
                    <a:ln>
                      <a:noFill/>
                    </a:ln>
                    <a:solidFill>
                      <a:schemeClr val="tx1"/>
                    </a:solidFill>
                    <a:effectLst/>
                    <a:latin typeface="Arial" panose="020B0604020202020204" pitchFamily="34" charset="0"/>
                  </a:rPr>
                  <a:t> </a:t>
                </a:r>
                <a:endParaRPr kumimoji="0" lang="zh-CN" altLang="zh-CN" sz="800" b="0" i="0" u="none" strike="noStrike" cap="none" normalizeH="0" baseline="0" dirty="0">
                  <a:ln>
                    <a:noFill/>
                  </a:ln>
                  <a:solidFill>
                    <a:srgbClr val="000000"/>
                  </a:solidFill>
                  <a:effectLst/>
                  <a:latin typeface="Arial" panose="020B0604020202020204" pitchFamily="34" charset="0"/>
                  <a:ea typeface="ui-sans-serif"/>
                </a:endParaRPr>
              </a:p>
              <a:p>
                <a:pPr marL="0" marR="0" lvl="0" indent="0" algn="l" defTabSz="914400" rtl="0" eaLnBrk="0" fontAlgn="base" latinLnBrk="0" hangingPunct="0">
                  <a:lnSpc>
                    <a:spcPct val="100000"/>
                  </a:lnSpc>
                  <a:spcBef>
                    <a:spcPct val="0"/>
                  </a:spcBef>
                  <a:spcAft>
                    <a:spcPct val="0"/>
                  </a:spcAft>
                  <a:buClrTx/>
                  <a:buSzTx/>
                  <a:tabLst/>
                </a:pPr>
                <a:r>
                  <a:rPr kumimoji="0" lang="zh-CN" altLang="zh-CN" sz="800" b="0" i="0" u="none" strike="noStrike" cap="none" normalizeH="0" baseline="0" dirty="0">
                    <a:ln>
                      <a:noFill/>
                    </a:ln>
                    <a:solidFill>
                      <a:srgbClr val="000000"/>
                    </a:solidFill>
                    <a:effectLst/>
                    <a:latin typeface="Arial" panose="020B0604020202020204" pitchFamily="34" charset="0"/>
                    <a:ea typeface="ui-sans-serif"/>
                  </a:rPr>
                  <a:t>LSTM 性能天花板更低</a:t>
                </a:r>
                <a:r>
                  <a:rPr kumimoji="0" lang="zh-CN" altLang="en-US" sz="800" b="0" i="0" u="none" strike="noStrike" cap="none" normalizeH="0" baseline="0" dirty="0">
                    <a:ln>
                      <a:noFill/>
                    </a:ln>
                    <a:solidFill>
                      <a:srgbClr val="000000"/>
                    </a:solidFill>
                    <a:effectLst/>
                    <a:latin typeface="Arial" panose="020B0604020202020204" pitchFamily="34" charset="0"/>
                    <a:ea typeface="ui-sans-serif"/>
                  </a:rPr>
                  <a:t>：</a:t>
                </a:r>
                <a:r>
                  <a:rPr kumimoji="0" lang="zh-CN" altLang="zh-CN" sz="800" b="0" i="0" u="none" strike="noStrike" cap="none" normalizeH="0" baseline="0" dirty="0">
                    <a:ln>
                      <a:noFill/>
                    </a:ln>
                    <a:solidFill>
                      <a:srgbClr val="000000"/>
                    </a:solidFill>
                    <a:effectLst/>
                    <a:latin typeface="Arial" panose="020B0604020202020204" pitchFamily="34" charset="0"/>
                    <a:ea typeface="ui-sans-serif"/>
                  </a:rPr>
                  <a:t>所有任务的 LSTM 曲线后期波动、无明显上升，说明LSTM 架构的预训练能力上限低，无法像 Transformer 一样通过扩大预训练规模持续提升下游性能。</a:t>
                </a:r>
                <a:endParaRPr kumimoji="0" lang="zh-CN" altLang="zh-CN" sz="800" b="0" i="0" u="none" strike="noStrike" cap="none" normalizeH="0" baseline="0" dirty="0">
                  <a:ln>
                    <a:noFill/>
                  </a:ln>
                  <a:solidFill>
                    <a:schemeClr val="tx1"/>
                  </a:solidFill>
                  <a:effectLst/>
                  <a:latin typeface="Arial" panose="020B0604020202020204" pitchFamily="34" charset="0"/>
                </a:endParaRPr>
              </a:p>
            </p:txBody>
          </p:sp>
        </mc:Choice>
        <mc:Fallback>
          <p:sp>
            <p:nvSpPr>
              <p:cNvPr id="11" name="Rectangle 1">
                <a:extLst>
                  <a:ext uri="{FF2B5EF4-FFF2-40B4-BE49-F238E27FC236}">
                    <a16:creationId xmlns:a16="http://schemas.microsoft.com/office/drawing/2014/main" id="{06F6D7AE-6079-01C0-7E9B-54EDA4786AA2}"/>
                  </a:ext>
                </a:extLst>
              </p:cNvPr>
              <p:cNvSpPr>
                <a:spLocks noRot="1" noChangeAspect="1" noMove="1" noResize="1" noEditPoints="1" noAdjustHandles="1" noChangeArrowheads="1" noChangeShapeType="1" noTextEdit="1"/>
              </p:cNvSpPr>
              <p:nvPr/>
            </p:nvSpPr>
            <p:spPr bwMode="auto">
              <a:xfrm>
                <a:off x="6273800" y="2452674"/>
                <a:ext cx="5561363" cy="1107996"/>
              </a:xfrm>
              <a:prstGeom prst="rect">
                <a:avLst/>
              </a:prstGeom>
              <a:blipFill>
                <a:blip r:embed="rId6"/>
                <a:stretch>
                  <a:fillRect l="-1096" t="-2198" r="-987" b="-549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5" name="Rectangle 3">
            <a:extLst>
              <a:ext uri="{FF2B5EF4-FFF2-40B4-BE49-F238E27FC236}">
                <a16:creationId xmlns:a16="http://schemas.microsoft.com/office/drawing/2014/main" id="{1A2CAF8D-1B6D-1599-F510-8E7CA8ADDA7E}"/>
              </a:ext>
            </a:extLst>
          </p:cNvPr>
          <p:cNvSpPr>
            <a:spLocks noChangeArrowheads="1"/>
          </p:cNvSpPr>
          <p:nvPr/>
        </p:nvSpPr>
        <p:spPr bwMode="auto">
          <a:xfrm rot="10800000" flipV="1">
            <a:off x="268907" y="5771026"/>
            <a:ext cx="5927424"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zh-CN" altLang="zh-CN" sz="800" b="0" i="0" u="none" strike="noStrike" cap="none" normalizeH="0" baseline="0" dirty="0">
                <a:ln>
                  <a:noFill/>
                </a:ln>
                <a:solidFill>
                  <a:srgbClr val="000000"/>
                </a:solidFill>
                <a:effectLst/>
                <a:latin typeface="Arial" panose="020B0604020202020204" pitchFamily="34" charset="0"/>
                <a:ea typeface="ui-sans-serif"/>
              </a:rPr>
              <a:t>层数越多，迁移性能整体越强</a:t>
            </a:r>
            <a:r>
              <a:rPr kumimoji="0" lang="zh-CN" altLang="en-US" sz="800" b="0" i="0" u="none" strike="noStrike" cap="none" normalizeH="0" baseline="0" dirty="0">
                <a:ln>
                  <a:noFill/>
                </a:ln>
                <a:solidFill>
                  <a:srgbClr val="000000"/>
                </a:solidFill>
                <a:effectLst/>
                <a:latin typeface="Arial" panose="020B0604020202020204" pitchFamily="34" charset="0"/>
                <a:ea typeface="ui-sans-serif"/>
              </a:rPr>
              <a:t>：</a:t>
            </a:r>
            <a:r>
              <a:rPr kumimoji="0" lang="zh-CN" altLang="zh-CN" sz="800" b="0" i="0" u="none" strike="noStrike" cap="none" normalizeH="0" baseline="0" dirty="0">
                <a:ln>
                  <a:noFill/>
                </a:ln>
                <a:solidFill>
                  <a:srgbClr val="000000"/>
                </a:solidFill>
                <a:effectLst/>
                <a:latin typeface="Arial" panose="020B0604020202020204" pitchFamily="34" charset="0"/>
                <a:ea typeface="ui-sans-serif"/>
              </a:rPr>
              <a:t>两个任务的训练集、验证集准确率，都随迁移层数增加持续上升。说明深层预训练特征对下游任务非常有用，复用更多预训练层，能显著提升下游任务效果。</a:t>
            </a:r>
            <a:r>
              <a:rPr kumimoji="0" lang="zh-CN" altLang="zh-CN" sz="800" b="0" i="0" u="none" strike="noStrike" cap="none" normalizeH="0" baseline="0" dirty="0">
                <a:ln>
                  <a:noFill/>
                </a:ln>
                <a:solidFill>
                  <a:schemeClr val="tx1"/>
                </a:solidFill>
                <a:effectLst/>
                <a:latin typeface="Arial" panose="020B0604020202020204" pitchFamily="34" charset="0"/>
              </a:rPr>
              <a:t> </a:t>
            </a:r>
            <a:endParaRPr kumimoji="0" lang="zh-CN" altLang="zh-CN" sz="800" b="0" i="0" u="none" strike="noStrike" cap="none" normalizeH="0" baseline="0" dirty="0">
              <a:ln>
                <a:noFill/>
              </a:ln>
              <a:solidFill>
                <a:srgbClr val="000000"/>
              </a:solidFill>
              <a:effectLst/>
              <a:latin typeface="Arial" panose="020B0604020202020204" pitchFamily="34" charset="0"/>
              <a:ea typeface="ui-sans-serif"/>
            </a:endParaRPr>
          </a:p>
          <a:p>
            <a:pPr marL="0" marR="0" lvl="0" indent="0" algn="l" defTabSz="914400" rtl="0" eaLnBrk="0" fontAlgn="base" latinLnBrk="0" hangingPunct="0">
              <a:lnSpc>
                <a:spcPct val="100000"/>
              </a:lnSpc>
              <a:spcBef>
                <a:spcPct val="0"/>
              </a:spcBef>
              <a:spcAft>
                <a:spcPct val="0"/>
              </a:spcAft>
              <a:buClrTx/>
              <a:buSzTx/>
              <a:tabLst/>
            </a:pPr>
            <a:r>
              <a:rPr kumimoji="0" lang="zh-CN" altLang="zh-CN" sz="800" b="0" i="0" u="none" strike="noStrike" cap="none" normalizeH="0" baseline="0" dirty="0">
                <a:ln>
                  <a:noFill/>
                </a:ln>
                <a:solidFill>
                  <a:srgbClr val="000000"/>
                </a:solidFill>
                <a:effectLst/>
                <a:latin typeface="Arial" panose="020B0604020202020204" pitchFamily="34" charset="0"/>
                <a:ea typeface="ui-sans-serif"/>
              </a:rPr>
              <a:t>训练集性能 &gt; 验证集性能</a:t>
            </a:r>
            <a:r>
              <a:rPr kumimoji="0" lang="zh-CN" altLang="en-US" sz="800" b="0" i="0" u="none" strike="noStrike" cap="none" normalizeH="0" baseline="0" dirty="0">
                <a:ln>
                  <a:noFill/>
                </a:ln>
                <a:solidFill>
                  <a:srgbClr val="000000"/>
                </a:solidFill>
                <a:effectLst/>
                <a:latin typeface="Arial" panose="020B0604020202020204" pitchFamily="34" charset="0"/>
                <a:ea typeface="ui-sans-serif"/>
              </a:rPr>
              <a:t>：</a:t>
            </a:r>
            <a:r>
              <a:rPr kumimoji="0" lang="zh-CN" altLang="zh-CN" sz="800" b="0" i="0" u="none" strike="noStrike" cap="none" normalizeH="0" baseline="0" dirty="0">
                <a:ln>
                  <a:noFill/>
                </a:ln>
                <a:solidFill>
                  <a:srgbClr val="000000"/>
                </a:solidFill>
                <a:effectLst/>
                <a:latin typeface="Arial" panose="020B0604020202020204" pitchFamily="34" charset="0"/>
                <a:ea typeface="ui-sans-serif"/>
              </a:rPr>
              <a:t>两个任务的虚线（训练集）始终高于实线（验证集），符合常规规律：模型在训练集拟合更好，验证集反映真实泛化能力。</a:t>
            </a:r>
            <a:r>
              <a:rPr kumimoji="0" lang="zh-CN" altLang="zh-CN" sz="800" b="0" i="0" u="none" strike="noStrike" cap="none" normalizeH="0" baseline="0" dirty="0">
                <a:ln>
                  <a:noFill/>
                </a:ln>
                <a:solidFill>
                  <a:schemeClr val="tx1"/>
                </a:solidFill>
                <a:effectLst/>
                <a:latin typeface="Arial" panose="020B0604020202020204" pitchFamily="34" charset="0"/>
              </a:rPr>
              <a:t> </a:t>
            </a:r>
            <a:endParaRPr kumimoji="0" lang="zh-CN" altLang="zh-CN" sz="800" b="0" i="0" u="none" strike="noStrike" cap="none" normalizeH="0" baseline="0" dirty="0">
              <a:ln>
                <a:noFill/>
              </a:ln>
              <a:solidFill>
                <a:srgbClr val="000000"/>
              </a:solidFill>
              <a:effectLst/>
              <a:latin typeface="Arial" panose="020B0604020202020204" pitchFamily="34" charset="0"/>
              <a:ea typeface="ui-sans-serif"/>
            </a:endParaRPr>
          </a:p>
          <a:p>
            <a:pPr marL="0" marR="0" lvl="0" indent="0" algn="l" defTabSz="914400" rtl="0" eaLnBrk="0" fontAlgn="base" latinLnBrk="0" hangingPunct="0">
              <a:lnSpc>
                <a:spcPct val="100000"/>
              </a:lnSpc>
              <a:spcBef>
                <a:spcPct val="0"/>
              </a:spcBef>
              <a:spcAft>
                <a:spcPct val="0"/>
              </a:spcAft>
              <a:buClrTx/>
              <a:buSzTx/>
              <a:tabLst/>
            </a:pPr>
            <a:r>
              <a:rPr kumimoji="0" lang="zh-CN" altLang="zh-CN" sz="800" b="0" i="0" u="none" strike="noStrike" cap="none" normalizeH="0" baseline="0" dirty="0">
                <a:ln>
                  <a:noFill/>
                </a:ln>
                <a:solidFill>
                  <a:srgbClr val="000000"/>
                </a:solidFill>
                <a:effectLst/>
                <a:latin typeface="Arial" panose="020B0604020202020204" pitchFamily="34" charset="0"/>
                <a:ea typeface="ui-sans-serif"/>
              </a:rPr>
              <a:t>任务间的迁移收益差异</a:t>
            </a:r>
            <a:r>
              <a:rPr kumimoji="0" lang="zh-CN" altLang="en-US" sz="800" b="0" i="0" u="none" strike="noStrike" cap="none" normalizeH="0" baseline="0" dirty="0">
                <a:ln>
                  <a:noFill/>
                </a:ln>
                <a:solidFill>
                  <a:srgbClr val="000000"/>
                </a:solidFill>
                <a:effectLst/>
                <a:latin typeface="Arial" panose="020B0604020202020204" pitchFamily="34" charset="0"/>
                <a:ea typeface="ui-sans-serif"/>
              </a:rPr>
              <a:t>：</a:t>
            </a:r>
            <a:r>
              <a:rPr kumimoji="0" lang="zh-CN" altLang="zh-CN" sz="800" b="0" i="0" u="none" strike="noStrike" cap="none" normalizeH="0" baseline="0" dirty="0">
                <a:ln>
                  <a:noFill/>
                </a:ln>
                <a:solidFill>
                  <a:srgbClr val="000000"/>
                </a:solidFill>
                <a:effectLst/>
                <a:latin typeface="Arial" panose="020B0604020202020204" pitchFamily="34" charset="0"/>
                <a:ea typeface="ui-sans-serif"/>
              </a:rPr>
              <a:t>MultiNLI（橙色）训练集性能上升更快、上限更高；RACE（蓝色）增长平缓。说明自然语言推理任务，从深层预训练中获益比阅读理解更大。</a:t>
            </a:r>
            <a:r>
              <a:rPr kumimoji="0" lang="zh-CN" altLang="zh-CN" sz="800" b="0" i="0" u="none" strike="noStrike" cap="none" normalizeH="0" baseline="0" dirty="0">
                <a:ln>
                  <a:noFill/>
                </a:ln>
                <a:solidFill>
                  <a:schemeClr val="tx1"/>
                </a:solidFill>
                <a:effectLst/>
                <a:latin typeface="Arial" panose="020B0604020202020204" pitchFamily="34" charset="0"/>
              </a:rPr>
              <a:t> </a:t>
            </a:r>
            <a:endParaRPr kumimoji="0" lang="zh-CN" altLang="zh-CN" sz="800" b="0" i="0" u="none" strike="noStrike" cap="none" normalizeH="0" baseline="0" dirty="0">
              <a:ln>
                <a:noFill/>
              </a:ln>
              <a:solidFill>
                <a:srgbClr val="000000"/>
              </a:solidFill>
              <a:effectLst/>
              <a:latin typeface="Arial" panose="020B0604020202020204" pitchFamily="34" charset="0"/>
              <a:ea typeface="ui-sans-serif"/>
            </a:endParaRPr>
          </a:p>
          <a:p>
            <a:pPr marL="0" marR="0" lvl="0" indent="0" algn="l" defTabSz="914400" rtl="0" eaLnBrk="0" fontAlgn="base" latinLnBrk="0" hangingPunct="0">
              <a:lnSpc>
                <a:spcPct val="100000"/>
              </a:lnSpc>
              <a:spcBef>
                <a:spcPct val="0"/>
              </a:spcBef>
              <a:spcAft>
                <a:spcPct val="0"/>
              </a:spcAft>
              <a:buClrTx/>
              <a:buSzTx/>
              <a:tabLst/>
            </a:pPr>
            <a:r>
              <a:rPr kumimoji="0" lang="zh-CN" altLang="zh-CN" sz="800" b="0" i="0" u="none" strike="noStrike" cap="none" normalizeH="0" baseline="0" dirty="0">
                <a:ln>
                  <a:noFill/>
                </a:ln>
                <a:solidFill>
                  <a:srgbClr val="000000"/>
                </a:solidFill>
                <a:effectLst/>
                <a:latin typeface="Arial" panose="020B0604020202020204" pitchFamily="34" charset="0"/>
                <a:ea typeface="ui-sans-serif"/>
              </a:rPr>
              <a:t>浅层迁移效果差</a:t>
            </a:r>
            <a:r>
              <a:rPr kumimoji="0" lang="zh-CN" altLang="en-US" sz="800" b="0" i="0" u="none" strike="noStrike" cap="none" normalizeH="0" baseline="0" dirty="0">
                <a:ln>
                  <a:noFill/>
                </a:ln>
                <a:solidFill>
                  <a:srgbClr val="000000"/>
                </a:solidFill>
                <a:effectLst/>
                <a:latin typeface="Arial" panose="020B0604020202020204" pitchFamily="34" charset="0"/>
                <a:ea typeface="ui-sans-serif"/>
              </a:rPr>
              <a:t>：</a:t>
            </a:r>
            <a:r>
              <a:rPr kumimoji="0" lang="zh-CN" altLang="zh-CN" sz="800" b="0" i="0" u="none" strike="noStrike" cap="none" normalizeH="0" baseline="0" dirty="0">
                <a:ln>
                  <a:noFill/>
                </a:ln>
                <a:solidFill>
                  <a:srgbClr val="000000"/>
                </a:solidFill>
                <a:effectLst/>
                <a:latin typeface="Arial" panose="020B0604020202020204" pitchFamily="34" charset="0"/>
                <a:ea typeface="ui-sans-serif"/>
              </a:rPr>
              <a:t>层数为 0~2 时，两个任务准确率都很低，说明仅用随机初始化的浅层模型，下游任务性能很差，预训练迁移是必要的。</a:t>
            </a:r>
            <a:r>
              <a:rPr kumimoji="0" lang="zh-CN" altLang="zh-CN" sz="800" b="0" i="0" u="none" strike="noStrike" cap="none" normalizeH="0" baseline="0" dirty="0">
                <a:ln>
                  <a:noFill/>
                </a:ln>
                <a:solidFill>
                  <a:schemeClr val="tx1"/>
                </a:solidFill>
                <a:effectLst/>
                <a:latin typeface="Arial" panose="020B0604020202020204" pitchFamily="34" charset="0"/>
              </a:rPr>
              <a:t> </a:t>
            </a:r>
          </a:p>
        </p:txBody>
      </p:sp>
      <p:sp>
        <p:nvSpPr>
          <p:cNvPr id="16" name="文本框 15">
            <a:extLst>
              <a:ext uri="{FF2B5EF4-FFF2-40B4-BE49-F238E27FC236}">
                <a16:creationId xmlns:a16="http://schemas.microsoft.com/office/drawing/2014/main" id="{E60CB398-BA9E-D9F7-002F-2514D96A89EB}"/>
              </a:ext>
            </a:extLst>
          </p:cNvPr>
          <p:cNvSpPr txBox="1"/>
          <p:nvPr/>
        </p:nvSpPr>
        <p:spPr>
          <a:xfrm>
            <a:off x="430803" y="29668"/>
            <a:ext cx="2032929" cy="523220"/>
          </a:xfrm>
          <a:prstGeom prst="rect">
            <a:avLst/>
          </a:prstGeom>
          <a:noFill/>
        </p:spPr>
        <p:txBody>
          <a:bodyPr wrap="none" rtlCol="0">
            <a:spAutoFit/>
          </a:bodyPr>
          <a:lstStyle/>
          <a:p>
            <a:r>
              <a:rPr lang="zh-CN" altLang="en-US" dirty="0">
                <a:solidFill>
                  <a:schemeClr val="bg2">
                    <a:lumMod val="60000"/>
                    <a:lumOff val="40000"/>
                  </a:schemeClr>
                </a:solidFill>
              </a:rPr>
              <a:t>四</a:t>
            </a:r>
            <a:r>
              <a:rPr lang="en-US" altLang="zh-CN" dirty="0">
                <a:solidFill>
                  <a:schemeClr val="bg2">
                    <a:lumMod val="60000"/>
                    <a:lumOff val="40000"/>
                  </a:schemeClr>
                </a:solidFill>
              </a:rPr>
              <a:t>.</a:t>
            </a:r>
            <a:r>
              <a:rPr lang="zh-CN" altLang="en-US" dirty="0">
                <a:solidFill>
                  <a:schemeClr val="bg2">
                    <a:lumMod val="60000"/>
                    <a:lumOff val="40000"/>
                  </a:schemeClr>
                </a:solidFill>
              </a:rPr>
              <a:t>图像论证与消融实验</a:t>
            </a:r>
          </a:p>
          <a:p>
            <a:endParaRPr lang="zh-CN" altLang="en-US" dirty="0"/>
          </a:p>
        </p:txBody>
      </p:sp>
      <p:sp>
        <p:nvSpPr>
          <p:cNvPr id="17" name="文本框 16">
            <a:extLst>
              <a:ext uri="{FF2B5EF4-FFF2-40B4-BE49-F238E27FC236}">
                <a16:creationId xmlns:a16="http://schemas.microsoft.com/office/drawing/2014/main" id="{85145A32-7A11-4379-FA96-977DC8607507}"/>
              </a:ext>
            </a:extLst>
          </p:cNvPr>
          <p:cNvSpPr txBox="1"/>
          <p:nvPr/>
        </p:nvSpPr>
        <p:spPr>
          <a:xfrm>
            <a:off x="28894" y="4954033"/>
            <a:ext cx="666433" cy="215444"/>
          </a:xfrm>
          <a:prstGeom prst="rect">
            <a:avLst/>
          </a:prstGeom>
          <a:noFill/>
        </p:spPr>
        <p:txBody>
          <a:bodyPr wrap="square" rtlCol="0">
            <a:spAutoFit/>
          </a:bodyPr>
          <a:lstStyle/>
          <a:p>
            <a:r>
              <a:rPr lang="zh-CN" altLang="en-US" sz="800" dirty="0"/>
              <a:t>任务分类：</a:t>
            </a:r>
          </a:p>
        </p:txBody>
      </p:sp>
      <p:pic>
        <p:nvPicPr>
          <p:cNvPr id="19" name="图片 18">
            <a:extLst>
              <a:ext uri="{FF2B5EF4-FFF2-40B4-BE49-F238E27FC236}">
                <a16:creationId xmlns:a16="http://schemas.microsoft.com/office/drawing/2014/main" id="{9FFC0C1E-C0A8-9B8F-B710-60D31B62AB73}"/>
              </a:ext>
            </a:extLst>
          </p:cNvPr>
          <p:cNvPicPr>
            <a:picLocks noChangeAspect="1"/>
          </p:cNvPicPr>
          <p:nvPr/>
        </p:nvPicPr>
        <p:blipFill>
          <a:blip r:embed="rId7"/>
          <a:stretch>
            <a:fillRect/>
          </a:stretch>
        </p:blipFill>
        <p:spPr>
          <a:xfrm>
            <a:off x="430803" y="76926"/>
            <a:ext cx="45719" cy="23367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88;p13" descr="image.png">
            <a:extLst>
              <a:ext uri="{FF2B5EF4-FFF2-40B4-BE49-F238E27FC236}">
                <a16:creationId xmlns:a16="http://schemas.microsoft.com/office/drawing/2014/main" id="{B9C1508E-D796-EAB1-A956-50AAAC496F00}"/>
              </a:ext>
            </a:extLst>
          </p:cNvPr>
          <p:cNvPicPr preferRelativeResize="0"/>
          <p:nvPr/>
        </p:nvPicPr>
        <p:blipFill rotWithShape="1">
          <a:blip r:embed="rId2"/>
          <a:srcRect/>
          <a:stretch>
            <a:fillRect/>
          </a:stretch>
        </p:blipFill>
        <p:spPr>
          <a:xfrm>
            <a:off x="1476375" y="4114800"/>
            <a:ext cx="10040620" cy="3384550"/>
          </a:xfrm>
          <a:prstGeom prst="rect">
            <a:avLst/>
          </a:prstGeom>
          <a:noFill/>
          <a:ln>
            <a:noFill/>
          </a:ln>
        </p:spPr>
      </p:pic>
      <p:pic>
        <p:nvPicPr>
          <p:cNvPr id="3" name="Google Shape;88;p13" descr="image.png">
            <a:extLst>
              <a:ext uri="{FF2B5EF4-FFF2-40B4-BE49-F238E27FC236}">
                <a16:creationId xmlns:a16="http://schemas.microsoft.com/office/drawing/2014/main" id="{94CF1799-DB4D-A1B5-0FE6-41FF56201EBD}"/>
              </a:ext>
            </a:extLst>
          </p:cNvPr>
          <p:cNvPicPr preferRelativeResize="0"/>
          <p:nvPr/>
        </p:nvPicPr>
        <p:blipFill rotWithShape="1">
          <a:blip r:embed="rId2"/>
          <a:srcRect/>
          <a:stretch>
            <a:fillRect/>
          </a:stretch>
        </p:blipFill>
        <p:spPr>
          <a:xfrm>
            <a:off x="1354137" y="73024"/>
            <a:ext cx="9483725" cy="3819525"/>
          </a:xfrm>
          <a:prstGeom prst="rect">
            <a:avLst/>
          </a:prstGeom>
          <a:noFill/>
          <a:ln>
            <a:noFill/>
          </a:ln>
        </p:spPr>
      </p:pic>
      <p:sp>
        <p:nvSpPr>
          <p:cNvPr id="2" name="文本框 1"/>
          <p:cNvSpPr txBox="1"/>
          <p:nvPr/>
        </p:nvSpPr>
        <p:spPr>
          <a:xfrm>
            <a:off x="1476375" y="447676"/>
            <a:ext cx="10104120" cy="6261100"/>
          </a:xfrm>
          <a:prstGeom prst="rect">
            <a:avLst/>
          </a:prstGeom>
          <a:noFill/>
        </p:spPr>
        <p:txBody>
          <a:bodyPr wrap="square" rtlCol="0">
            <a:noAutofit/>
          </a:bodyPr>
          <a:lstStyle/>
          <a:p>
            <a:r>
              <a:rPr lang="en-US" altLang="zh-CN" b="1" dirty="0">
                <a:latin typeface="Calibri" panose="020F0502020204030204" charset="0"/>
              </a:rPr>
              <a:t>(1)</a:t>
            </a:r>
            <a:r>
              <a:rPr lang="zh-CN" altLang="en-US" b="1" dirty="0">
                <a:latin typeface="Calibri" panose="020F0502020204030204" charset="0"/>
              </a:rPr>
              <a:t>研究结论：</a:t>
            </a:r>
          </a:p>
          <a:p>
            <a:endParaRPr lang="zh-CN" altLang="en-US" dirty="0">
              <a:latin typeface="Calibri" panose="020F0502020204030204" charset="0"/>
            </a:endParaRPr>
          </a:p>
          <a:p>
            <a:r>
              <a:rPr lang="zh-CN" altLang="en-US" dirty="0">
                <a:latin typeface="Calibri" panose="020F0502020204030204" charset="0"/>
              </a:rPr>
              <a:t>①</a:t>
            </a:r>
            <a:r>
              <a:rPr lang="zh-CN" altLang="en-US" dirty="0"/>
              <a:t>提出通用新范式：</a:t>
            </a:r>
            <a:r>
              <a:rPr lang="zh-CN" altLang="en-US" b="1" dirty="0"/>
              <a:t>生成式预训练 (无监督) + 判别式微调 (有监督)</a:t>
            </a:r>
          </a:p>
          <a:p>
            <a:endParaRPr lang="zh-CN" altLang="en-US" dirty="0"/>
          </a:p>
          <a:p>
            <a:r>
              <a:rPr lang="zh-CN" altLang="en-US" dirty="0"/>
              <a:t>使用单一、任务无关 (Task-agnostic) 的模型解决多样化 NLP 任务</a:t>
            </a:r>
          </a:p>
          <a:p>
            <a:endParaRPr lang="zh-CN" altLang="en-US" dirty="0"/>
          </a:p>
          <a:p>
            <a:r>
              <a:rPr lang="zh-CN" altLang="en-US" dirty="0">
                <a:latin typeface="Calibri" panose="020F0502020204030204" charset="0"/>
              </a:rPr>
              <a:t>②</a:t>
            </a:r>
            <a:r>
              <a:rPr lang="zh-CN" altLang="en-US" dirty="0"/>
              <a:t>验证核心机制与“黄金组合”</a:t>
            </a:r>
          </a:p>
          <a:p>
            <a:endParaRPr lang="zh-CN" altLang="en-US" dirty="0"/>
          </a:p>
          <a:p>
            <a:r>
              <a:rPr lang="zh-CN" altLang="en-US" dirty="0"/>
              <a:t>架构与数据：Transformer 架构 + 长距离连续文本语料</a:t>
            </a:r>
          </a:p>
          <a:p>
            <a:endParaRPr lang="zh-CN" altLang="en-US" dirty="0"/>
          </a:p>
          <a:p>
            <a:r>
              <a:rPr lang="zh-CN" altLang="en-US" dirty="0"/>
              <a:t>能力涌现：成功让模型</a:t>
            </a:r>
            <a:r>
              <a:rPr lang="zh-CN" altLang="en-US" b="1" dirty="0"/>
              <a:t>自主获取“世界知识”</a:t>
            </a:r>
            <a:r>
              <a:rPr lang="zh-CN" altLang="en-US" dirty="0"/>
              <a:t>与</a:t>
            </a:r>
            <a:r>
              <a:rPr lang="zh-CN" altLang="en-US" b="1" dirty="0"/>
              <a:t>“长距离依赖”处理能力</a:t>
            </a:r>
          </a:p>
          <a:p>
            <a:endParaRPr lang="zh-CN" altLang="en-US" dirty="0"/>
          </a:p>
          <a:p>
            <a:r>
              <a:rPr lang="zh-CN" altLang="en-US" dirty="0">
                <a:latin typeface="Calibri" panose="020F0502020204030204" charset="0"/>
              </a:rPr>
              <a:t>③</a:t>
            </a:r>
            <a:r>
              <a:rPr lang="zh-CN" altLang="en-US" dirty="0"/>
              <a:t>实现性能飞跃：强大的跨任务迁移能力：在问答、分类、语义相似度等 12 个基准测试中，9 个刷新 SOTA</a:t>
            </a:r>
          </a:p>
          <a:p>
            <a:endParaRPr lang="zh-CN" altLang="en-US"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b="1" dirty="0"/>
              <a:t>(2)</a:t>
            </a:r>
            <a:r>
              <a:rPr lang="zh-CN" altLang="en-US" b="1" dirty="0"/>
              <a:t>研究启示：</a:t>
            </a:r>
            <a:endParaRPr lang="en-US" altLang="zh-CN" b="1" dirty="0"/>
          </a:p>
          <a:p>
            <a:endParaRPr lang="zh-CN" altLang="en-US" dirty="0"/>
          </a:p>
          <a:p>
            <a:r>
              <a:rPr lang="zh-CN" altLang="en-US" dirty="0">
                <a:latin typeface="Calibri" panose="020F0502020204030204" charset="0"/>
              </a:rPr>
              <a:t>①</a:t>
            </a:r>
            <a:r>
              <a:rPr lang="zh-CN" altLang="en-US" dirty="0"/>
              <a:t>证实了无监督预训练在提升下游任务性能上的巨大潜力</a:t>
            </a:r>
            <a:endParaRPr lang="en-US" altLang="zh-CN" dirty="0"/>
          </a:p>
          <a:p>
            <a:endParaRPr lang="zh-CN" altLang="en-US" dirty="0"/>
          </a:p>
          <a:p>
            <a:r>
              <a:rPr lang="zh-CN" altLang="en-US" dirty="0">
                <a:latin typeface="Calibri" panose="020F0502020204030204" charset="0"/>
              </a:rPr>
              <a:t>②</a:t>
            </a:r>
            <a:r>
              <a:rPr lang="zh-CN" altLang="en-US" dirty="0"/>
              <a:t>为 NLU（自然语言理解）及其他领域的无监督学习研究奠定了基础利用无监督数据来提升有监督任务的性能，一直是我们领域的重要目标。GPT-1 不仅证明了这条路不仅走得通，而且潜力巨大</a:t>
            </a:r>
          </a:p>
        </p:txBody>
      </p:sp>
      <p:sp>
        <p:nvSpPr>
          <p:cNvPr id="6" name="文本框 5">
            <a:extLst>
              <a:ext uri="{FF2B5EF4-FFF2-40B4-BE49-F238E27FC236}">
                <a16:creationId xmlns:a16="http://schemas.microsoft.com/office/drawing/2014/main" id="{799D4714-6CF0-7E5F-0614-4C9EEDC58ADB}"/>
              </a:ext>
            </a:extLst>
          </p:cNvPr>
          <p:cNvSpPr txBox="1"/>
          <p:nvPr/>
        </p:nvSpPr>
        <p:spPr>
          <a:xfrm>
            <a:off x="592434" y="279400"/>
            <a:ext cx="461665" cy="6051550"/>
          </a:xfrm>
          <a:prstGeom prst="rect">
            <a:avLst/>
          </a:prstGeom>
          <a:noFill/>
        </p:spPr>
        <p:txBody>
          <a:bodyPr vert="eaVert" wrap="square" rtlCol="0">
            <a:spAutoFit/>
          </a:bodyPr>
          <a:lstStyle/>
          <a:p>
            <a:r>
              <a:rPr lang="zh-CN" altLang="en-US" sz="1800" dirty="0">
                <a:solidFill>
                  <a:schemeClr val="bg2">
                    <a:lumMod val="60000"/>
                    <a:lumOff val="40000"/>
                  </a:schemeClr>
                </a:solidFill>
              </a:rPr>
              <a:t>五     研究结论与研究启示</a:t>
            </a:r>
          </a:p>
        </p:txBody>
      </p:sp>
      <p:sp>
        <p:nvSpPr>
          <p:cNvPr id="7" name="Google Shape;211;p21">
            <a:extLst>
              <a:ext uri="{FF2B5EF4-FFF2-40B4-BE49-F238E27FC236}">
                <a16:creationId xmlns:a16="http://schemas.microsoft.com/office/drawing/2014/main" id="{3D781CC8-20D9-13AF-C54A-E5F242A081C3}"/>
              </a:ext>
            </a:extLst>
          </p:cNvPr>
          <p:cNvSpPr/>
          <p:nvPr/>
        </p:nvSpPr>
        <p:spPr>
          <a:xfrm rot="5400000">
            <a:off x="800406" y="464820"/>
            <a:ext cx="45719" cy="278129"/>
          </a:xfrm>
          <a:prstGeom prst="rect">
            <a:avLst/>
          </a:prstGeom>
          <a:solidFill>
            <a:srgbClr val="1A73E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05" name="Google Shape;205;p21" descr="image.png"/>
          <p:cNvPicPr preferRelativeResize="0"/>
          <p:nvPr/>
        </p:nvPicPr>
        <p:blipFill rotWithShape="1">
          <a:blip r:embed="rId3"/>
          <a:srcRect/>
          <a:stretch>
            <a:fillRect/>
          </a:stretch>
        </p:blipFill>
        <p:spPr>
          <a:xfrm>
            <a:off x="5762625" y="0"/>
            <a:ext cx="5977890" cy="6858000"/>
          </a:xfrm>
          <a:prstGeom prst="rect">
            <a:avLst/>
          </a:prstGeom>
          <a:noFill/>
          <a:ln>
            <a:noFill/>
          </a:ln>
        </p:spPr>
      </p:pic>
      <p:pic>
        <p:nvPicPr>
          <p:cNvPr id="206" name="Google Shape;206;p21" descr="image.png"/>
          <p:cNvPicPr preferRelativeResize="0"/>
          <p:nvPr/>
        </p:nvPicPr>
        <p:blipFill rotWithShape="1">
          <a:blip r:embed="rId4"/>
          <a:srcRect/>
          <a:stretch>
            <a:fillRect/>
          </a:stretch>
        </p:blipFill>
        <p:spPr>
          <a:xfrm>
            <a:off x="571500" y="2481262"/>
            <a:ext cx="238125" cy="200025"/>
          </a:xfrm>
          <a:prstGeom prst="rect">
            <a:avLst/>
          </a:prstGeom>
          <a:noFill/>
          <a:ln>
            <a:noFill/>
          </a:ln>
        </p:spPr>
      </p:pic>
      <p:pic>
        <p:nvPicPr>
          <p:cNvPr id="207" name="Google Shape;207;p21" descr="image.png"/>
          <p:cNvPicPr preferRelativeResize="0"/>
          <p:nvPr/>
        </p:nvPicPr>
        <p:blipFill rotWithShape="1">
          <a:blip r:embed="rId5"/>
          <a:srcRect/>
          <a:stretch>
            <a:fillRect/>
          </a:stretch>
        </p:blipFill>
        <p:spPr>
          <a:xfrm>
            <a:off x="571500" y="2928937"/>
            <a:ext cx="190500" cy="200025"/>
          </a:xfrm>
          <a:prstGeom prst="rect">
            <a:avLst/>
          </a:prstGeom>
          <a:noFill/>
          <a:ln>
            <a:noFill/>
          </a:ln>
        </p:spPr>
      </p:pic>
      <p:pic>
        <p:nvPicPr>
          <p:cNvPr id="208" name="Google Shape;208;p21" descr="image.png"/>
          <p:cNvPicPr preferRelativeResize="0"/>
          <p:nvPr/>
        </p:nvPicPr>
        <p:blipFill rotWithShape="1">
          <a:blip r:embed="rId6"/>
          <a:srcRect/>
          <a:stretch>
            <a:fillRect/>
          </a:stretch>
        </p:blipFill>
        <p:spPr>
          <a:xfrm>
            <a:off x="571500" y="3376612"/>
            <a:ext cx="171450" cy="200025"/>
          </a:xfrm>
          <a:prstGeom prst="rect">
            <a:avLst/>
          </a:prstGeom>
          <a:noFill/>
          <a:ln>
            <a:noFill/>
          </a:ln>
        </p:spPr>
      </p:pic>
      <p:pic>
        <p:nvPicPr>
          <p:cNvPr id="209" name="Google Shape;209;p21" descr="image.png"/>
          <p:cNvPicPr preferRelativeResize="0"/>
          <p:nvPr/>
        </p:nvPicPr>
        <p:blipFill rotWithShape="1">
          <a:blip r:embed="rId7"/>
          <a:srcRect/>
          <a:stretch>
            <a:fillRect/>
          </a:stretch>
        </p:blipFill>
        <p:spPr>
          <a:xfrm>
            <a:off x="571500" y="4129087"/>
            <a:ext cx="190500" cy="200025"/>
          </a:xfrm>
          <a:prstGeom prst="rect">
            <a:avLst/>
          </a:prstGeom>
          <a:noFill/>
          <a:ln>
            <a:noFill/>
          </a:ln>
        </p:spPr>
      </p:pic>
      <p:sp>
        <p:nvSpPr>
          <p:cNvPr id="210" name="Google Shape;210;p21"/>
          <p:cNvSpPr txBox="1"/>
          <p:nvPr/>
        </p:nvSpPr>
        <p:spPr>
          <a:xfrm>
            <a:off x="762000" y="1524000"/>
            <a:ext cx="5000625"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altLang="en-US" sz="3150" b="1" dirty="0">
                <a:solidFill>
                  <a:srgbClr val="002D62"/>
                </a:solidFill>
                <a:latin typeface="Merriweather"/>
                <a:ea typeface="Merriweather"/>
                <a:cs typeface="Merriweather"/>
                <a:sym typeface="Merriweather"/>
              </a:rPr>
              <a:t>其他</a:t>
            </a:r>
            <a:r>
              <a:rPr lang="en-US" altLang="zh-CN" sz="3150" b="1" dirty="0">
                <a:solidFill>
                  <a:srgbClr val="002D62"/>
                </a:solidFill>
                <a:latin typeface="Merriweather"/>
                <a:ea typeface="Merriweather"/>
                <a:cs typeface="Merriweather"/>
                <a:sym typeface="Merriweather"/>
              </a:rPr>
              <a:t>.</a:t>
            </a:r>
            <a:r>
              <a:rPr lang="en-US" sz="3150" b="1" i="0" u="none" strike="noStrike" cap="none" dirty="0" err="1">
                <a:solidFill>
                  <a:srgbClr val="002D62"/>
                </a:solidFill>
                <a:latin typeface="Merriweather"/>
                <a:ea typeface="Merriweather"/>
                <a:cs typeface="Merriweather"/>
                <a:sym typeface="Merriweather"/>
              </a:rPr>
              <a:t>任务感知的输入转换</a:t>
            </a:r>
            <a:endParaRPr lang="en-US" sz="3150" b="1" i="0" u="none" strike="noStrike" cap="none" dirty="0">
              <a:solidFill>
                <a:srgbClr val="002D62"/>
              </a:solidFill>
              <a:latin typeface="Merriweather"/>
              <a:ea typeface="Merriweather"/>
              <a:cs typeface="Merriweather"/>
              <a:sym typeface="Merriweather"/>
            </a:endParaRPr>
          </a:p>
        </p:txBody>
      </p:sp>
      <p:sp>
        <p:nvSpPr>
          <p:cNvPr id="211" name="Google Shape;211;p21"/>
          <p:cNvSpPr/>
          <p:nvPr/>
        </p:nvSpPr>
        <p:spPr>
          <a:xfrm>
            <a:off x="571500" y="1524000"/>
            <a:ext cx="57150" cy="533400"/>
          </a:xfrm>
          <a:prstGeom prst="rect">
            <a:avLst/>
          </a:prstGeom>
          <a:solidFill>
            <a:srgbClr val="1A73E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2" name="Google Shape;212;p21"/>
          <p:cNvSpPr txBox="1"/>
          <p:nvPr/>
        </p:nvSpPr>
        <p:spPr>
          <a:xfrm>
            <a:off x="571500" y="4702810"/>
            <a:ext cx="4953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75569"/>
                </a:solidFill>
                <a:latin typeface="DM Sans"/>
                <a:ea typeface="DM Sans"/>
                <a:cs typeface="DM Sans"/>
                <a:sym typeface="DM Sans"/>
              </a:rPr>
              <a:t>这种方法避免了针对每个任务设计复杂的模型架构，真正实现了“一套参数适配所有任务”。</a:t>
            </a:r>
          </a:p>
        </p:txBody>
      </p:sp>
      <p:sp>
        <p:nvSpPr>
          <p:cNvPr id="213" name="Google Shape;213;p21"/>
          <p:cNvSpPr txBox="1"/>
          <p:nvPr/>
        </p:nvSpPr>
        <p:spPr>
          <a:xfrm>
            <a:off x="904875" y="2438400"/>
            <a:ext cx="4619625" cy="36893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DM Sans"/>
                <a:ea typeface="DM Sans"/>
                <a:cs typeface="DM Sans"/>
                <a:sym typeface="DM Sans"/>
              </a:rPr>
              <a:t>分类：</a:t>
            </a:r>
            <a:r>
              <a:rPr lang="en-US" sz="1500" b="0" i="0" u="none" strike="noStrike" cap="none">
                <a:solidFill>
                  <a:srgbClr val="475569"/>
                </a:solidFill>
                <a:latin typeface="DM Sans"/>
                <a:ea typeface="DM Sans"/>
                <a:cs typeface="DM Sans"/>
                <a:sym typeface="DM Sans"/>
              </a:rPr>
              <a:t> [Start; Text; Extract]</a:t>
            </a:r>
          </a:p>
        </p:txBody>
      </p:sp>
      <p:sp>
        <p:nvSpPr>
          <p:cNvPr id="214" name="Google Shape;214;p21"/>
          <p:cNvSpPr txBox="1"/>
          <p:nvPr/>
        </p:nvSpPr>
        <p:spPr>
          <a:xfrm>
            <a:off x="904875" y="2886075"/>
            <a:ext cx="4619625" cy="36893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DM Sans"/>
                <a:ea typeface="DM Sans"/>
                <a:cs typeface="DM Sans"/>
                <a:sym typeface="DM Sans"/>
              </a:rPr>
              <a:t>推理：</a:t>
            </a:r>
            <a:r>
              <a:rPr lang="en-US" sz="1500" b="0" i="0" u="none" strike="noStrike" cap="none">
                <a:solidFill>
                  <a:srgbClr val="475569"/>
                </a:solidFill>
                <a:latin typeface="DM Sans"/>
                <a:ea typeface="DM Sans"/>
                <a:cs typeface="DM Sans"/>
                <a:sym typeface="DM Sans"/>
              </a:rPr>
              <a:t> [Start; Premise; Delim; Hypo; Extract]</a:t>
            </a:r>
          </a:p>
        </p:txBody>
      </p:sp>
      <p:sp>
        <p:nvSpPr>
          <p:cNvPr id="215" name="Google Shape;215;p21"/>
          <p:cNvSpPr txBox="1"/>
          <p:nvPr/>
        </p:nvSpPr>
        <p:spPr>
          <a:xfrm>
            <a:off x="904875" y="3333750"/>
            <a:ext cx="4619625" cy="73850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DM Sans"/>
                <a:ea typeface="DM Sans"/>
                <a:cs typeface="DM Sans"/>
                <a:sym typeface="DM Sans"/>
              </a:rPr>
              <a:t>相似度：</a:t>
            </a:r>
            <a:r>
              <a:rPr lang="en-US" sz="1500" b="0" i="0" u="none" strike="noStrike" cap="none">
                <a:solidFill>
                  <a:srgbClr val="475569"/>
                </a:solidFill>
                <a:latin typeface="DM Sans"/>
                <a:ea typeface="DM Sans"/>
                <a:cs typeface="DM Sans"/>
                <a:sym typeface="DM Sans"/>
              </a:rPr>
              <a:t> [Start; T1; Delim; T2; Extract] + [Start; T2; Delim; T1; Extract]</a:t>
            </a:r>
          </a:p>
        </p:txBody>
      </p:sp>
      <p:sp>
        <p:nvSpPr>
          <p:cNvPr id="216" name="Google Shape;216;p21"/>
          <p:cNvSpPr txBox="1"/>
          <p:nvPr/>
        </p:nvSpPr>
        <p:spPr>
          <a:xfrm>
            <a:off x="904875" y="4086225"/>
            <a:ext cx="4619625" cy="36893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DM Sans"/>
                <a:ea typeface="DM Sans"/>
                <a:cs typeface="DM Sans"/>
                <a:sym typeface="DM Sans"/>
              </a:rPr>
              <a:t>问答：</a:t>
            </a:r>
            <a:r>
              <a:rPr lang="en-US" sz="1500" b="0" i="0" u="none" strike="noStrike" cap="none">
                <a:solidFill>
                  <a:srgbClr val="475569"/>
                </a:solidFill>
                <a:latin typeface="DM Sans"/>
                <a:ea typeface="DM Sans"/>
                <a:cs typeface="DM Sans"/>
                <a:sym typeface="DM Sans"/>
              </a:rPr>
              <a:t> [Context; Ques; Delim; Ans_k; Extract]</a:t>
            </a:r>
          </a:p>
        </p:txBody>
      </p:sp>
      <p:graphicFrame>
        <p:nvGraphicFramePr>
          <p:cNvPr id="2" name="对象 1">
            <a:hlinkClick r:id="" action="ppaction://ole?verb=0"/>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r:id="rId8" imgW="114300" imgH="215900" progId="Equation.KSEE3">
                  <p:embed/>
                </p:oleObj>
              </mc:Choice>
              <mc:Fallback>
                <p:oleObj r:id="rId8" imgW="114300" imgH="215900" progId="Equation.KSEE3">
                  <p:embed/>
                  <p:pic>
                    <p:nvPicPr>
                      <p:cNvPr id="0" name="图片 1025"/>
                      <p:cNvPicPr/>
                      <p:nvPr/>
                    </p:nvPicPr>
                    <p:blipFill>
                      <a:blip r:embed="rId9"/>
                      <a:stretch>
                        <a:fillRect/>
                      </a:stretch>
                    </p:blipFill>
                    <p:spPr>
                      <a:xfrm>
                        <a:off x="6038850" y="3321050"/>
                        <a:ext cx="114300" cy="215900"/>
                      </a:xfrm>
                      <a:prstGeom prst="rect">
                        <a:avLst/>
                      </a:prstGeom>
                    </p:spPr>
                  </p:pic>
                </p:oleObj>
              </mc:Fallback>
            </mc:AlternateContent>
          </a:graphicData>
        </a:graphic>
      </p:graphicFrame>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2386</TotalTime>
  <Words>1873</Words>
  <Application>Microsoft Office PowerPoint</Application>
  <PresentationFormat>宽屏</PresentationFormat>
  <Paragraphs>151</Paragraphs>
  <Slides>6</Slides>
  <Notes>3</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6</vt:i4>
      </vt:variant>
    </vt:vector>
  </HeadingPairs>
  <TitlesOfParts>
    <vt:vector size="17" baseType="lpstr">
      <vt:lpstr>Poppins SemiBold</vt:lpstr>
      <vt:lpstr>Merriweather</vt:lpstr>
      <vt:lpstr>宋体</vt:lpstr>
      <vt:lpstr>Calibri</vt:lpstr>
      <vt:lpstr>DM Sans</vt:lpstr>
      <vt:lpstr>Poppins</vt:lpstr>
      <vt:lpstr>Lato</vt:lpstr>
      <vt:lpstr>Cambria Math</vt:lpstr>
      <vt:lpstr>Arial</vt:lpstr>
      <vt:lpstr>Office Theme</vt:lpstr>
      <vt:lpstr>WPS 公式 3.0</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mac</cp:lastModifiedBy>
  <cp:revision>78</cp:revision>
  <dcterms:created xsi:type="dcterms:W3CDTF">2026-05-19T01:37:00Z</dcterms:created>
  <dcterms:modified xsi:type="dcterms:W3CDTF">2026-05-26T06:41:36Z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136822612D0E4E9CB1A6C75298DD078C_12</vt:lpwstr>
  </property>
  <property fmtid="{D5CDD505-2E9C-101B-9397-08002B2CF9AE}" pid="3" name="KSOProductBuildVer">
    <vt:lpwstr>2052-12.8.2.17149</vt:lpwstr>
  </property>
</Properties>
</file>